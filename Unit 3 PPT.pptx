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9"/>
  </p:notesMasterIdLst>
  <p:sldIdLst>
    <p:sldId id="256" r:id="rId2"/>
    <p:sldId id="304" r:id="rId3"/>
    <p:sldId id="282" r:id="rId4"/>
    <p:sldId id="262" r:id="rId5"/>
    <p:sldId id="257" r:id="rId6"/>
    <p:sldId id="259" r:id="rId7"/>
    <p:sldId id="269" r:id="rId8"/>
    <p:sldId id="258" r:id="rId9"/>
    <p:sldId id="263" r:id="rId10"/>
    <p:sldId id="264" r:id="rId11"/>
    <p:sldId id="294" r:id="rId12"/>
    <p:sldId id="284" r:id="rId13"/>
    <p:sldId id="285" r:id="rId14"/>
    <p:sldId id="286" r:id="rId15"/>
    <p:sldId id="287" r:id="rId16"/>
    <p:sldId id="288" r:id="rId17"/>
    <p:sldId id="289" r:id="rId18"/>
    <p:sldId id="290" r:id="rId19"/>
    <p:sldId id="291" r:id="rId20"/>
    <p:sldId id="292" r:id="rId21"/>
    <p:sldId id="293" r:id="rId22"/>
    <p:sldId id="265" r:id="rId23"/>
    <p:sldId id="268" r:id="rId24"/>
    <p:sldId id="278" r:id="rId25"/>
    <p:sldId id="272" r:id="rId26"/>
    <p:sldId id="277" r:id="rId27"/>
    <p:sldId id="279" r:id="rId28"/>
    <p:sldId id="281" r:id="rId29"/>
    <p:sldId id="280" r:id="rId30"/>
    <p:sldId id="276" r:id="rId31"/>
    <p:sldId id="275" r:id="rId32"/>
    <p:sldId id="295" r:id="rId33"/>
    <p:sldId id="299" r:id="rId34"/>
    <p:sldId id="300" r:id="rId35"/>
    <p:sldId id="301" r:id="rId36"/>
    <p:sldId id="302" r:id="rId37"/>
    <p:sldId id="303" r:id="rId3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-1426" y="-7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4DE62-6AAA-49FF-BDB9-6CCA93C328BD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FE7F88-C556-484F-8AA4-477A657340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18044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9CA8E-B040-4E23-8D05-37CD56511CEB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78D48629-9900-44F9-A022-A88C9137950B}" type="slidenum">
              <a:rPr lang="en-IN" smtClean="0"/>
              <a:t>‹#›</a:t>
            </a:fld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9CA8E-B040-4E23-8D05-37CD56511CEB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48629-9900-44F9-A022-A88C9137950B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9CA8E-B040-4E23-8D05-37CD56511CEB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en-IN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78D48629-9900-44F9-A022-A88C9137950B}" type="slidenum">
              <a:rPr lang="en-IN" smtClean="0"/>
              <a:t>‹#›</a:t>
            </a:fld>
            <a:endParaRPr lang="en-I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9CA8E-B040-4E23-8D05-37CD56511CEB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48629-9900-44F9-A022-A88C9137950B}" type="slidenum">
              <a:rPr lang="en-IN" smtClean="0"/>
              <a:t>‹#›</a:t>
            </a:fld>
            <a:endParaRPr lang="en-IN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9CA8E-B040-4E23-8D05-37CD56511CEB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48629-9900-44F9-A022-A88C9137950B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9CA8E-B040-4E23-8D05-37CD56511CEB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48629-9900-44F9-A022-A88C9137950B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9CA8E-B040-4E23-8D05-37CD56511CEB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48629-9900-44F9-A022-A88C9137950B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9CA8E-B040-4E23-8D05-37CD56511CEB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48629-9900-44F9-A022-A88C9137950B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9CA8E-B040-4E23-8D05-37CD56511CEB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78D48629-9900-44F9-A022-A88C9137950B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9CA8E-B040-4E23-8D05-37CD56511CEB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48629-9900-44F9-A022-A88C9137950B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9CA8E-B040-4E23-8D05-37CD56511CEB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48629-9900-44F9-A022-A88C9137950B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4510" y="6457950"/>
            <a:ext cx="1076628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3346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EF99CA8E-B040-4E23-8D05-37CD56511CEB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78D48629-9900-44F9-A022-A88C9137950B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3" r:id="rId12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36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 smtClean="0"/>
              <a:t>DJango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5942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7584" y="188640"/>
            <a:ext cx="7772400" cy="64807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>
                <a:solidFill>
                  <a:schemeClr val="accent2"/>
                </a:solidFill>
              </a:rPr>
              <a:t>Python</a:t>
            </a:r>
            <a:r>
              <a:rPr lang="en-US" dirty="0" smtClean="0"/>
              <a:t>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07504" y="1124744"/>
            <a:ext cx="7772400" cy="4572000"/>
          </a:xfrm>
        </p:spPr>
        <p:txBody>
          <a:bodyPr>
            <a:normAutofit lnSpcReduction="10000"/>
          </a:bodyPr>
          <a:lstStyle/>
          <a:p>
            <a:r>
              <a:rPr lang="en-IN" dirty="0"/>
              <a:t>Python</a:t>
            </a:r>
            <a:br>
              <a:rPr lang="en-IN" dirty="0"/>
            </a:br>
            <a:r>
              <a:rPr lang="en-IN" dirty="0"/>
              <a:t>│</a:t>
            </a:r>
            <a:br>
              <a:rPr lang="en-IN" dirty="0"/>
            </a:br>
            <a:r>
              <a:rPr lang="en-IN" dirty="0"/>
              <a:t>├── Frontend (Limited)</a:t>
            </a:r>
            <a:br>
              <a:rPr lang="en-IN" dirty="0"/>
            </a:br>
            <a:r>
              <a:rPr lang="en-IN" dirty="0"/>
              <a:t>├── Backend</a:t>
            </a:r>
            <a:br>
              <a:rPr lang="en-IN" dirty="0"/>
            </a:br>
            <a:r>
              <a:rPr lang="en-IN" dirty="0"/>
              <a:t>├── Web Scraping</a:t>
            </a:r>
            <a:br>
              <a:rPr lang="en-IN" dirty="0"/>
            </a:br>
            <a:r>
              <a:rPr lang="en-IN" dirty="0"/>
              <a:t>├── Automation / Scripting</a:t>
            </a:r>
            <a:br>
              <a:rPr lang="en-IN" dirty="0"/>
            </a:br>
            <a:r>
              <a:rPr lang="en-IN" dirty="0"/>
              <a:t>├── </a:t>
            </a:r>
            <a:r>
              <a:rPr lang="en-IN" dirty="0" smtClean="0"/>
              <a:t>Cloud</a:t>
            </a:r>
            <a:r>
              <a:rPr lang="en-IN" dirty="0"/>
              <a:t/>
            </a:r>
            <a:br>
              <a:rPr lang="en-IN" dirty="0"/>
            </a:br>
            <a:r>
              <a:rPr lang="en-IN" dirty="0"/>
              <a:t>├── AI</a:t>
            </a:r>
            <a:br>
              <a:rPr lang="en-IN" dirty="0"/>
            </a:br>
            <a:r>
              <a:rPr lang="en-IN" dirty="0"/>
              <a:t>│ └── ML</a:t>
            </a:r>
            <a:br>
              <a:rPr lang="en-IN" dirty="0"/>
            </a:br>
            <a:r>
              <a:rPr lang="en-IN" dirty="0"/>
              <a:t>│ └── Data Science</a:t>
            </a:r>
            <a:br>
              <a:rPr lang="en-IN" dirty="0"/>
            </a:br>
            <a:r>
              <a:rPr lang="en-IN" dirty="0"/>
              <a:t>│ └── Gen AI</a:t>
            </a:r>
            <a:br>
              <a:rPr lang="en-IN" dirty="0"/>
            </a:br>
            <a:r>
              <a:rPr lang="en-IN" dirty="0"/>
              <a:t>│ └── </a:t>
            </a:r>
            <a:r>
              <a:rPr lang="en-IN" dirty="0" err="1"/>
              <a:t>Agentic</a:t>
            </a:r>
            <a:r>
              <a:rPr lang="en-IN" dirty="0"/>
              <a:t>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4427984" y="980728"/>
            <a:ext cx="4464496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3200" dirty="0"/>
              <a:t>Python can be used to develop applications for frontend, backend, web scraping, scripting, cloud environments, AI, ML, data science, generative AI, </a:t>
            </a:r>
            <a:r>
              <a:rPr lang="en-US" sz="3200" dirty="0" err="1" smtClean="0"/>
              <a:t>Agentic</a:t>
            </a:r>
            <a:r>
              <a:rPr lang="en-US" sz="3200" dirty="0" smtClean="0"/>
              <a:t> </a:t>
            </a:r>
            <a:r>
              <a:rPr lang="en-US" sz="3200" dirty="0"/>
              <a:t>AI, and AI agents</a:t>
            </a:r>
            <a:r>
              <a:rPr lang="en-US" sz="3200" dirty="0" smtClean="0"/>
              <a:t>.</a:t>
            </a:r>
          </a:p>
          <a:p>
            <a:pPr algn="just"/>
            <a:endParaRPr lang="en-US" sz="3200" b="1" dirty="0" smtClean="0"/>
          </a:p>
          <a:p>
            <a:pPr algn="just"/>
            <a:r>
              <a:rPr lang="en-US" sz="2400" b="1" dirty="0" smtClean="0"/>
              <a:t>Where we are not using: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2000" dirty="0"/>
              <a:t>Python is not commonly used for developing mobile applications</a:t>
            </a:r>
            <a:r>
              <a:rPr lang="en-US" sz="2000" dirty="0" smtClean="0"/>
              <a:t>.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2000" dirty="0" smtClean="0"/>
              <a:t>But there is a </a:t>
            </a:r>
            <a:r>
              <a:rPr lang="en-US" sz="2000" dirty="0" err="1" smtClean="0"/>
              <a:t>Kivy</a:t>
            </a:r>
            <a:r>
              <a:rPr lang="en-US" sz="2000" dirty="0" smtClean="0"/>
              <a:t> framework 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9782339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260648"/>
            <a:ext cx="7772400" cy="70609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Basics	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67544" y="980728"/>
            <a:ext cx="8424936" cy="5400600"/>
          </a:xfrm>
        </p:spPr>
        <p:txBody>
          <a:bodyPr>
            <a:normAutofit lnSpcReduction="10000"/>
          </a:bodyPr>
          <a:lstStyle/>
          <a:p>
            <a:pPr algn="just"/>
            <a:r>
              <a:rPr lang="en-IN" dirty="0">
                <a:solidFill>
                  <a:srgbClr val="002060"/>
                </a:solidFill>
              </a:rPr>
              <a:t>Web </a:t>
            </a:r>
            <a:r>
              <a:rPr lang="en-IN" dirty="0" smtClean="0">
                <a:solidFill>
                  <a:srgbClr val="002060"/>
                </a:solidFill>
              </a:rPr>
              <a:t>Application </a:t>
            </a:r>
            <a:r>
              <a:rPr lang="en-IN" dirty="0" smtClean="0"/>
              <a:t>- </a:t>
            </a:r>
            <a:r>
              <a:rPr lang="en-US" dirty="0"/>
              <a:t>The applications which will provide services over the web are called web applications. </a:t>
            </a:r>
            <a:endParaRPr lang="en-US" dirty="0" smtClean="0"/>
          </a:p>
          <a:p>
            <a:pPr lvl="1" algn="just"/>
            <a:r>
              <a:rPr lang="en-US" dirty="0" err="1" smtClean="0"/>
              <a:t>Eg</a:t>
            </a:r>
            <a:r>
              <a:rPr lang="en-US" dirty="0"/>
              <a:t>: gmail.com, </a:t>
            </a:r>
            <a:r>
              <a:rPr lang="en-US" dirty="0" smtClean="0"/>
              <a:t>facebook.com</a:t>
            </a:r>
          </a:p>
          <a:p>
            <a:pPr algn="just"/>
            <a:r>
              <a:rPr lang="en-IN" dirty="0"/>
              <a:t>Every web </a:t>
            </a:r>
            <a:r>
              <a:rPr lang="en-IN" dirty="0" smtClean="0"/>
              <a:t>application </a:t>
            </a:r>
            <a:r>
              <a:rPr lang="en-IN" dirty="0"/>
              <a:t>contains 2 main </a:t>
            </a:r>
            <a:r>
              <a:rPr lang="en-IN" dirty="0" smtClean="0"/>
              <a:t>components</a:t>
            </a:r>
          </a:p>
          <a:p>
            <a:pPr marL="777240" lvl="1" indent="-457200" algn="just">
              <a:buAutoNum type="arabicPeriod"/>
            </a:pPr>
            <a:r>
              <a:rPr lang="en-IN" dirty="0" smtClean="0"/>
              <a:t>Front-End  2. Back-End</a:t>
            </a:r>
          </a:p>
          <a:p>
            <a:pPr marL="502920" indent="-457200" algn="just"/>
            <a:r>
              <a:rPr lang="en-IN" dirty="0">
                <a:solidFill>
                  <a:srgbClr val="002060"/>
                </a:solidFill>
              </a:rPr>
              <a:t>Front-End</a:t>
            </a:r>
            <a:r>
              <a:rPr lang="en-IN" dirty="0" smtClean="0"/>
              <a:t> - </a:t>
            </a:r>
            <a:r>
              <a:rPr lang="en-US" dirty="0"/>
              <a:t>It represents what user is seeing on the </a:t>
            </a:r>
            <a:r>
              <a:rPr lang="en-US" dirty="0" smtClean="0"/>
              <a:t>website</a:t>
            </a:r>
          </a:p>
          <a:p>
            <a:pPr marL="320040" lvl="1" indent="0" algn="just">
              <a:buNone/>
            </a:pPr>
            <a:r>
              <a:rPr lang="en-US" dirty="0" smtClean="0"/>
              <a:t>     Ex: HTML</a:t>
            </a:r>
            <a:r>
              <a:rPr lang="en-US" dirty="0"/>
              <a:t>, JS, CSS, </a:t>
            </a:r>
            <a:r>
              <a:rPr lang="en-US" dirty="0" err="1"/>
              <a:t>JQuery</a:t>
            </a:r>
            <a:r>
              <a:rPr lang="en-US" dirty="0"/>
              <a:t> and </a:t>
            </a:r>
            <a:r>
              <a:rPr lang="en-US" dirty="0" err="1" smtClean="0"/>
              <a:t>BootStrap</a:t>
            </a:r>
            <a:r>
              <a:rPr lang="en-US" dirty="0" smtClean="0"/>
              <a:t>, React JS, Angular JS </a:t>
            </a:r>
          </a:p>
          <a:p>
            <a:pPr marL="502920" indent="-457200" algn="just"/>
            <a:r>
              <a:rPr lang="en-IN" dirty="0">
                <a:solidFill>
                  <a:srgbClr val="002060"/>
                </a:solidFill>
              </a:rPr>
              <a:t>Back End</a:t>
            </a:r>
            <a:r>
              <a:rPr lang="en-IN" dirty="0" smtClean="0">
                <a:solidFill>
                  <a:srgbClr val="002060"/>
                </a:solidFill>
              </a:rPr>
              <a:t>:</a:t>
            </a:r>
            <a:r>
              <a:rPr lang="en-US" dirty="0" smtClean="0"/>
              <a:t> Backend </a:t>
            </a:r>
            <a:r>
              <a:rPr lang="en-US" dirty="0"/>
              <a:t>is responsible to generate required response to the end user</a:t>
            </a:r>
            <a:r>
              <a:rPr lang="en-US" dirty="0" smtClean="0"/>
              <a:t>, which </a:t>
            </a:r>
            <a:r>
              <a:rPr lang="en-US" dirty="0"/>
              <a:t>is displayed by the Front-End. </a:t>
            </a:r>
            <a:endParaRPr lang="en-US" dirty="0" smtClean="0"/>
          </a:p>
          <a:p>
            <a:pPr marL="502920" indent="-457200" algn="just"/>
            <a:r>
              <a:rPr lang="en-IN" dirty="0" smtClean="0"/>
              <a:t> </a:t>
            </a:r>
            <a:r>
              <a:rPr lang="en-IN" dirty="0">
                <a:solidFill>
                  <a:srgbClr val="002060"/>
                </a:solidFill>
              </a:rPr>
              <a:t>Back-End has 3 important components: </a:t>
            </a:r>
          </a:p>
          <a:p>
            <a:pPr marL="594360" lvl="2" indent="0" algn="just">
              <a:buNone/>
            </a:pPr>
            <a:r>
              <a:rPr lang="en-IN" dirty="0" smtClean="0"/>
              <a:t>1</a:t>
            </a:r>
            <a:r>
              <a:rPr lang="en-IN" dirty="0"/>
              <a:t>) The </a:t>
            </a:r>
            <a:r>
              <a:rPr lang="en-IN" dirty="0" smtClean="0"/>
              <a:t>Languages  </a:t>
            </a:r>
            <a:r>
              <a:rPr lang="en-IN" dirty="0"/>
              <a:t>like </a:t>
            </a:r>
            <a:r>
              <a:rPr lang="en-IN" dirty="0" err="1"/>
              <a:t>Java,Python</a:t>
            </a:r>
            <a:r>
              <a:rPr lang="en-IN" dirty="0"/>
              <a:t> </a:t>
            </a:r>
            <a:r>
              <a:rPr lang="en-IN" dirty="0" err="1"/>
              <a:t>etc</a:t>
            </a:r>
            <a:r>
              <a:rPr lang="en-IN" dirty="0"/>
              <a:t> </a:t>
            </a:r>
            <a:endParaRPr lang="en-IN" dirty="0" smtClean="0"/>
          </a:p>
          <a:p>
            <a:pPr marL="594360" lvl="2" indent="0" algn="just">
              <a:buNone/>
            </a:pPr>
            <a:r>
              <a:rPr lang="en-IN" dirty="0" smtClean="0"/>
              <a:t>2</a:t>
            </a:r>
            <a:r>
              <a:rPr lang="en-IN" dirty="0"/>
              <a:t>) The Framework like </a:t>
            </a:r>
            <a:r>
              <a:rPr lang="en-IN" dirty="0" err="1"/>
              <a:t>DJango,Pyramid,Flask</a:t>
            </a:r>
            <a:r>
              <a:rPr lang="en-IN" dirty="0"/>
              <a:t> </a:t>
            </a:r>
            <a:r>
              <a:rPr lang="en-IN" dirty="0" err="1"/>
              <a:t>etc</a:t>
            </a:r>
            <a:r>
              <a:rPr lang="en-IN" dirty="0"/>
              <a:t> </a:t>
            </a:r>
            <a:endParaRPr lang="en-IN" dirty="0" smtClean="0"/>
          </a:p>
          <a:p>
            <a:pPr marL="594360" lvl="2" indent="0" algn="just">
              <a:buNone/>
            </a:pPr>
            <a:r>
              <a:rPr lang="en-IN" dirty="0" smtClean="0"/>
              <a:t>3</a:t>
            </a:r>
            <a:r>
              <a:rPr lang="en-IN" dirty="0"/>
              <a:t>) The Database like </a:t>
            </a:r>
            <a:r>
              <a:rPr lang="en-IN" dirty="0" err="1"/>
              <a:t>SQLite,Oralce,MySQL</a:t>
            </a:r>
            <a:r>
              <a:rPr lang="en-IN" dirty="0"/>
              <a:t> </a:t>
            </a:r>
            <a:r>
              <a:rPr lang="en-IN" dirty="0" err="1"/>
              <a:t>etc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108526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404664"/>
            <a:ext cx="7772400" cy="634082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002060"/>
                </a:solidFill>
              </a:rPr>
              <a:t>Web Framework	</a:t>
            </a:r>
            <a:r>
              <a:rPr lang="en-US" dirty="0" smtClean="0"/>
              <a:t>	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67544" y="1124744"/>
            <a:ext cx="8136904" cy="511256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 web framework is a collection of </a:t>
            </a:r>
            <a:r>
              <a:rPr lang="en-US" dirty="0" smtClean="0"/>
              <a:t>tools and  libraries that </a:t>
            </a:r>
            <a:r>
              <a:rPr lang="en-US" dirty="0"/>
              <a:t>help </a:t>
            </a:r>
            <a:r>
              <a:rPr lang="en-US" dirty="0" smtClean="0"/>
              <a:t>developers to </a:t>
            </a:r>
            <a:r>
              <a:rPr lang="en-US" dirty="0"/>
              <a:t>build and maintain web applications. It's also known as a web application framework (</a:t>
            </a:r>
            <a:r>
              <a:rPr lang="en-US" dirty="0" smtClean="0"/>
              <a:t>WAF</a:t>
            </a:r>
            <a:r>
              <a:rPr lang="en-US" dirty="0"/>
              <a:t>). </a:t>
            </a:r>
            <a:r>
              <a:rPr lang="en-US" dirty="0" smtClean="0"/>
              <a:t>-</a:t>
            </a:r>
          </a:p>
          <a:p>
            <a:r>
              <a:rPr lang="en-US" dirty="0"/>
              <a:t>Benefits of using a web framework</a:t>
            </a:r>
          </a:p>
          <a:p>
            <a:pPr lvl="1" fontAlgn="ctr"/>
            <a:r>
              <a:rPr lang="en-US" b="1" dirty="0"/>
              <a:t>Saves time</a:t>
            </a:r>
            <a:r>
              <a:rPr lang="en-US" dirty="0"/>
              <a:t>: Developers don't need to write everything from scratch </a:t>
            </a:r>
          </a:p>
          <a:p>
            <a:pPr lvl="1" fontAlgn="ctr"/>
            <a:r>
              <a:rPr lang="en-US" b="1" dirty="0"/>
              <a:t>Makes development more efficient</a:t>
            </a:r>
            <a:r>
              <a:rPr lang="en-US" dirty="0"/>
              <a:t>: Developers can reuse code and follow a consistent development approach </a:t>
            </a:r>
          </a:p>
          <a:p>
            <a:pPr fontAlgn="ctr"/>
            <a:r>
              <a:rPr lang="en-IN" dirty="0" smtClean="0"/>
              <a:t>Examples </a:t>
            </a:r>
            <a:r>
              <a:rPr lang="en-IN" dirty="0"/>
              <a:t>of web frameworks </a:t>
            </a:r>
          </a:p>
          <a:p>
            <a:pPr lvl="1"/>
            <a:r>
              <a:rPr lang="en-IN" dirty="0" smtClean="0"/>
              <a:t> Django</a:t>
            </a:r>
            <a:r>
              <a:rPr lang="en-IN" dirty="0"/>
              <a:t>, Flask, </a:t>
            </a:r>
            <a:r>
              <a:rPr lang="en-IN" dirty="0" err="1" smtClean="0"/>
              <a:t>FastAPI</a:t>
            </a:r>
            <a:r>
              <a:rPr lang="en-IN" dirty="0" smtClean="0"/>
              <a:t>, Bottle</a:t>
            </a:r>
            <a:r>
              <a:rPr lang="en-IN" dirty="0"/>
              <a:t>, </a:t>
            </a:r>
            <a:r>
              <a:rPr lang="en-IN" dirty="0" smtClean="0"/>
              <a:t>Pyramid</a:t>
            </a:r>
          </a:p>
          <a:p>
            <a:pPr lvl="1"/>
            <a:r>
              <a:rPr lang="en-US" dirty="0" smtClean="0"/>
              <a:t>Data Science Frameworks – Pandas, </a:t>
            </a:r>
            <a:r>
              <a:rPr lang="en-US" dirty="0" err="1" smtClean="0"/>
              <a:t>Numpy</a:t>
            </a:r>
            <a:endParaRPr lang="en-US" dirty="0" smtClean="0"/>
          </a:p>
          <a:p>
            <a:pPr lvl="1"/>
            <a:r>
              <a:rPr lang="en-IN" dirty="0"/>
              <a:t>ML/AI </a:t>
            </a:r>
            <a:r>
              <a:rPr lang="en-IN" dirty="0" smtClean="0"/>
              <a:t>– </a:t>
            </a:r>
            <a:r>
              <a:rPr lang="en-IN" dirty="0" err="1" smtClean="0"/>
              <a:t>TensorFlow</a:t>
            </a:r>
            <a:r>
              <a:rPr lang="en-IN" dirty="0"/>
              <a:t>, </a:t>
            </a:r>
            <a:r>
              <a:rPr lang="en-IN" dirty="0" err="1" smtClean="0"/>
              <a:t>PyTorch</a:t>
            </a:r>
            <a:endParaRPr lang="en-IN" dirty="0" smtClean="0"/>
          </a:p>
          <a:p>
            <a:pPr lvl="1"/>
            <a:r>
              <a:rPr lang="en-US" dirty="0" smtClean="0"/>
              <a:t>GUI - </a:t>
            </a:r>
            <a:r>
              <a:rPr lang="en-US" dirty="0" err="1" smtClean="0"/>
              <a:t>Tkinter</a:t>
            </a:r>
            <a:endParaRPr lang="en-IN" dirty="0"/>
          </a:p>
          <a:p>
            <a:pPr lvl="1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891619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274638"/>
            <a:ext cx="8291264" cy="706090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002060"/>
                </a:solidFill>
              </a:rPr>
              <a:t>Django?	</a:t>
            </a:r>
            <a:endParaRPr lang="en-IN" b="1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51520" y="980728"/>
            <a:ext cx="8568952" cy="5112568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 </a:t>
            </a:r>
            <a:r>
              <a:rPr lang="en-US" dirty="0" err="1" smtClean="0"/>
              <a:t>DJango</a:t>
            </a:r>
            <a:r>
              <a:rPr lang="en-US" dirty="0" smtClean="0"/>
              <a:t> </a:t>
            </a:r>
            <a:r>
              <a:rPr lang="en-US" dirty="0"/>
              <a:t>is a </a:t>
            </a:r>
            <a:r>
              <a:rPr lang="en-US" dirty="0" smtClean="0"/>
              <a:t>high-level, free and open source </a:t>
            </a:r>
            <a:r>
              <a:rPr lang="en-US" dirty="0"/>
              <a:t>Python </a:t>
            </a:r>
            <a:r>
              <a:rPr lang="en-US" dirty="0" smtClean="0"/>
              <a:t> web </a:t>
            </a:r>
            <a:r>
              <a:rPr lang="en-US" dirty="0"/>
              <a:t>framework that </a:t>
            </a:r>
            <a:r>
              <a:rPr lang="en-US" dirty="0" smtClean="0"/>
              <a:t>helps </a:t>
            </a:r>
            <a:r>
              <a:rPr lang="en-US" dirty="0"/>
              <a:t>developers build </a:t>
            </a:r>
            <a:r>
              <a:rPr lang="en-US" b="1" dirty="0"/>
              <a:t>web applications quickly and securely</a:t>
            </a:r>
            <a:r>
              <a:rPr lang="en-US" dirty="0"/>
              <a:t>.</a:t>
            </a:r>
          </a:p>
          <a:p>
            <a:r>
              <a:rPr lang="en-IN" dirty="0"/>
              <a:t>It provides:</a:t>
            </a:r>
          </a:p>
          <a:p>
            <a:pPr marL="0" indent="0">
              <a:buNone/>
            </a:pPr>
            <a:r>
              <a:rPr lang="en-IN" dirty="0" smtClean="0"/>
              <a:t>	 </a:t>
            </a:r>
            <a:r>
              <a:rPr lang="en-IN" dirty="0"/>
              <a:t>Built-in admin panel</a:t>
            </a:r>
            <a:br>
              <a:rPr lang="en-IN" dirty="0"/>
            </a:br>
            <a:r>
              <a:rPr lang="en-IN" dirty="0" smtClean="0"/>
              <a:t> 	Authentication </a:t>
            </a:r>
            <a:r>
              <a:rPr lang="en-IN" dirty="0"/>
              <a:t>system (login/logout)</a:t>
            </a:r>
            <a:br>
              <a:rPr lang="en-IN" dirty="0"/>
            </a:br>
            <a:r>
              <a:rPr lang="en-IN" dirty="0" smtClean="0"/>
              <a:t> 	</a:t>
            </a:r>
            <a:r>
              <a:rPr lang="en-IN" dirty="0" smtClean="0">
                <a:hlinkClick r:id="rId2" action="ppaction://hlinksldjump"/>
              </a:rPr>
              <a:t>ORM </a:t>
            </a:r>
            <a:r>
              <a:rPr lang="en-IN" dirty="0">
                <a:hlinkClick r:id="rId2" action="ppaction://hlinksldjump"/>
              </a:rPr>
              <a:t>(database handling without SQL)</a:t>
            </a:r>
            <a:br>
              <a:rPr lang="en-IN" dirty="0">
                <a:hlinkClick r:id="rId2" action="ppaction://hlinksldjump"/>
              </a:rPr>
            </a:br>
            <a:r>
              <a:rPr lang="en-IN" dirty="0" smtClean="0"/>
              <a:t> 	Security features (SQL Injection, CSRF – Cross Site Req. Forgery)</a:t>
            </a:r>
            <a:r>
              <a:rPr lang="en-IN" dirty="0"/>
              <a:t/>
            </a:r>
            <a:br>
              <a:rPr lang="en-IN" dirty="0"/>
            </a:br>
            <a:r>
              <a:rPr lang="en-IN" dirty="0" smtClean="0"/>
              <a:t> 	MVT </a:t>
            </a:r>
            <a:r>
              <a:rPr lang="en-IN" dirty="0"/>
              <a:t>architecture</a:t>
            </a:r>
            <a:br>
              <a:rPr lang="en-IN" dirty="0"/>
            </a:br>
            <a:r>
              <a:rPr lang="en-IN" dirty="0" smtClean="0"/>
              <a:t> 	Fast </a:t>
            </a:r>
            <a:r>
              <a:rPr lang="en-IN" dirty="0"/>
              <a:t>development</a:t>
            </a:r>
          </a:p>
          <a:p>
            <a:r>
              <a:rPr lang="en-US" dirty="0" smtClean="0"/>
              <a:t>Initial Development: </a:t>
            </a:r>
          </a:p>
          <a:p>
            <a:pPr lvl="1"/>
            <a:r>
              <a:rPr lang="en-US" dirty="0" smtClean="0"/>
              <a:t>2003: Adrian </a:t>
            </a:r>
            <a:r>
              <a:rPr lang="en-US" dirty="0" err="1" smtClean="0"/>
              <a:t>Holovaty</a:t>
            </a:r>
            <a:r>
              <a:rPr lang="en-US" dirty="0" smtClean="0"/>
              <a:t> and Simon Willison – for newspaper content management - </a:t>
            </a:r>
            <a:r>
              <a:rPr lang="en-IN" dirty="0" err="1"/>
              <a:t>Lowrence</a:t>
            </a:r>
            <a:r>
              <a:rPr lang="en-IN" dirty="0"/>
              <a:t> </a:t>
            </a:r>
            <a:r>
              <a:rPr lang="en-IN" dirty="0" smtClean="0"/>
              <a:t>Journal-World</a:t>
            </a:r>
          </a:p>
          <a:p>
            <a:pPr lvl="1"/>
            <a:r>
              <a:rPr lang="en-US" dirty="0"/>
              <a:t>The Django was named in the memory of Guitarist </a:t>
            </a:r>
            <a:r>
              <a:rPr lang="en-US" b="1" dirty="0"/>
              <a:t>Django </a:t>
            </a:r>
            <a:r>
              <a:rPr lang="en-US" b="1" dirty="0" smtClean="0"/>
              <a:t>Reinhardt</a:t>
            </a:r>
          </a:p>
          <a:p>
            <a:pPr lvl="1"/>
            <a:r>
              <a:rPr lang="en-IN" dirty="0"/>
              <a:t>Official website: djangoproject.com </a:t>
            </a:r>
            <a:endParaRPr lang="en-US" dirty="0" smtClean="0"/>
          </a:p>
          <a:p>
            <a:pPr lvl="1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2373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274638"/>
            <a:ext cx="8363272" cy="706090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002060"/>
                </a:solidFill>
              </a:rPr>
              <a:t>Key Features	</a:t>
            </a:r>
            <a:r>
              <a:rPr lang="en-US" dirty="0" smtClean="0"/>
              <a:t>	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23528" y="1052736"/>
            <a:ext cx="8640960" cy="5400600"/>
          </a:xfrm>
        </p:spPr>
        <p:txBody>
          <a:bodyPr>
            <a:normAutofit/>
          </a:bodyPr>
          <a:lstStyle/>
          <a:p>
            <a:r>
              <a:rPr lang="en-US" dirty="0" smtClean="0"/>
              <a:t>Reusability – Promotes reusable code via it modular design – follows </a:t>
            </a:r>
            <a:r>
              <a:rPr lang="en-US" b="1" dirty="0"/>
              <a:t>DRY (Don't Repeat Yourself) Principle</a:t>
            </a:r>
            <a:r>
              <a:rPr lang="en-US" dirty="0" smtClean="0"/>
              <a:t>. </a:t>
            </a:r>
          </a:p>
          <a:p>
            <a:r>
              <a:rPr lang="en-US" dirty="0" smtClean="0"/>
              <a:t>Rapid Development – The framework emphasizes fast development with a “batteries-included” i.e., </a:t>
            </a:r>
            <a:r>
              <a:rPr lang="en-US" dirty="0"/>
              <a:t> a product comes with all the parts it needs to </a:t>
            </a:r>
            <a:r>
              <a:rPr lang="en-US" dirty="0" smtClean="0"/>
              <a:t>function </a:t>
            </a:r>
            <a:endParaRPr lang="en-US" dirty="0"/>
          </a:p>
          <a:p>
            <a:r>
              <a:rPr lang="en-US" dirty="0" smtClean="0"/>
              <a:t>Contains  Object-Relational </a:t>
            </a:r>
            <a:r>
              <a:rPr lang="en-US" dirty="0"/>
              <a:t>Mapping (ORM) - a programming technique that connects object-oriented programming </a:t>
            </a:r>
            <a:r>
              <a:rPr lang="en-US" dirty="0" smtClean="0"/>
              <a:t>language i.e., python objects to </a:t>
            </a:r>
            <a:r>
              <a:rPr lang="en-US" dirty="0"/>
              <a:t>relational databases. 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34459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274638"/>
            <a:ext cx="8291264" cy="850106"/>
          </a:xfrm>
        </p:spPr>
        <p:txBody>
          <a:bodyPr/>
          <a:lstStyle/>
          <a:p>
            <a:r>
              <a:rPr lang="en-US" b="1" dirty="0">
                <a:solidFill>
                  <a:srgbClr val="002060"/>
                </a:solidFill>
              </a:rPr>
              <a:t>Key Features	</a:t>
            </a:r>
            <a:r>
              <a:rPr lang="en-US" dirty="0"/>
              <a:t>	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95536" y="1268760"/>
            <a:ext cx="8748464" cy="5184576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Security – provides built-in protection mechanism – SAND </a:t>
            </a:r>
            <a:r>
              <a:rPr lang="en-US" dirty="0" smtClean="0"/>
              <a:t>Box, SQL Injection, CSRF…</a:t>
            </a:r>
            <a:endParaRPr lang="en-US" dirty="0"/>
          </a:p>
          <a:p>
            <a:r>
              <a:rPr lang="en-US" dirty="0"/>
              <a:t>Scalability: Designed to handle high- traffic sites and large applications</a:t>
            </a:r>
          </a:p>
          <a:p>
            <a:r>
              <a:rPr lang="en-US" dirty="0"/>
              <a:t>Versatility: Suitable for building everything from simple websites to complex enterprise solutions i.e., any kind of app we can develop.</a:t>
            </a:r>
          </a:p>
          <a:p>
            <a:r>
              <a:rPr lang="en-US" dirty="0"/>
              <a:t>The benefits of using Django for web development also include its Representational State Transfer (REST) </a:t>
            </a:r>
            <a:r>
              <a:rPr lang="en-US" dirty="0" smtClean="0"/>
              <a:t>  </a:t>
            </a:r>
            <a:r>
              <a:rPr lang="en-US" dirty="0"/>
              <a:t>- software applications to communicate with each other over the </a:t>
            </a:r>
            <a:r>
              <a:rPr lang="en-US" dirty="0" smtClean="0"/>
              <a:t>Internet </a:t>
            </a:r>
            <a:r>
              <a:rPr lang="en-US" dirty="0"/>
              <a:t>using standard </a:t>
            </a:r>
            <a:r>
              <a:rPr lang="en-US" b="1" dirty="0"/>
              <a:t>HTTP methods</a:t>
            </a:r>
            <a:r>
              <a:rPr lang="en-US" dirty="0" smtClean="0"/>
              <a:t>. Ex: Amazon – by using REST API methods front end applications pull the data. </a:t>
            </a:r>
          </a:p>
          <a:p>
            <a:pPr lvl="1"/>
            <a:r>
              <a:rPr lang="en-US" dirty="0" smtClean="0"/>
              <a:t>Uses JSON</a:t>
            </a:r>
          </a:p>
          <a:p>
            <a:pPr marL="0" indent="0">
              <a:buNone/>
            </a:pPr>
            <a:r>
              <a:rPr lang="en-US" dirty="0" smtClean="0"/>
              <a:t>		{</a:t>
            </a: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			"</a:t>
            </a:r>
            <a:r>
              <a:rPr lang="en-US" dirty="0"/>
              <a:t>id": 1,</a:t>
            </a:r>
            <a:br>
              <a:rPr lang="en-US" dirty="0"/>
            </a:br>
            <a:r>
              <a:rPr lang="en-US" dirty="0" smtClean="0"/>
              <a:t>			"</a:t>
            </a:r>
            <a:r>
              <a:rPr lang="en-US" dirty="0"/>
              <a:t>name": </a:t>
            </a:r>
            <a:r>
              <a:rPr lang="en-US" dirty="0" smtClean="0"/>
              <a:t>“ABC",</a:t>
            </a: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			"</a:t>
            </a:r>
            <a:r>
              <a:rPr lang="en-US" dirty="0"/>
              <a:t>branch": "IT"</a:t>
            </a:r>
            <a:br>
              <a:rPr lang="en-US" dirty="0"/>
            </a:br>
            <a:r>
              <a:rPr lang="en-US" dirty="0" smtClean="0"/>
              <a:t>		}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952560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504" y="332656"/>
            <a:ext cx="7772400" cy="706090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002060"/>
                </a:solidFill>
              </a:rPr>
              <a:t>MVT Architecture</a:t>
            </a:r>
            <a:endParaRPr lang="en-IN" b="1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51520" y="1052736"/>
            <a:ext cx="7772400" cy="4572000"/>
          </a:xfrm>
        </p:spPr>
        <p:txBody>
          <a:bodyPr/>
          <a:lstStyle/>
          <a:p>
            <a:r>
              <a:rPr lang="en-US" dirty="0" smtClean="0"/>
              <a:t>Model – Business Logic, for every table in a data base we will write class</a:t>
            </a:r>
          </a:p>
          <a:p>
            <a:r>
              <a:rPr lang="en-US" dirty="0" smtClean="0"/>
              <a:t>Template – contains HTML code</a:t>
            </a:r>
          </a:p>
          <a:p>
            <a:r>
              <a:rPr lang="en-US" dirty="0" smtClean="0"/>
              <a:t>View – Interacts and coordinates Model and template</a:t>
            </a:r>
            <a:endParaRPr lang="en-IN" dirty="0"/>
          </a:p>
        </p:txBody>
      </p:sp>
      <p:pic>
        <p:nvPicPr>
          <p:cNvPr id="5" name="Picture 2" descr="https://i0.wp.com/lasteminista.com/wp-content/uploads/2020/10/MVT_Design_Pattern-1.png?resize=619%2C348&amp;ssl=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48" y="908720"/>
            <a:ext cx="7554838" cy="4247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AutoShape 2" descr="Learn Django over the weekend - A. Maharjan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2052" name="Picture 4" descr="Django MVT (Model-View-Template) architectur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5224" y="4437112"/>
            <a:ext cx="3348372" cy="2232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8915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1028" name="Picture 4" descr="https://media.licdn.com/dms/image/v2/D4D12AQFdd-FUs1JdAQ/article-cover_image-shrink_600_2000/article-cover_image-shrink_600_2000/0/1707662259774?e=1746662400&amp;v=beta&amp;t=_xB78r9yt2REOdnbbuS7iADlyYS2nnCYPWQTcyfODJ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60" y="260648"/>
            <a:ext cx="8854687" cy="35798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323528" y="3284984"/>
            <a:ext cx="4572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/>
              <a:t>Step-by-step:</a:t>
            </a:r>
          </a:p>
          <a:p>
            <a:r>
              <a:rPr lang="en-US" dirty="0"/>
              <a:t>Client sends request</a:t>
            </a:r>
          </a:p>
          <a:p>
            <a:r>
              <a:rPr lang="en-US" dirty="0"/>
              <a:t>URL dispatcher calls the </a:t>
            </a:r>
            <a:r>
              <a:rPr lang="en-US" b="1" dirty="0"/>
              <a:t>View</a:t>
            </a:r>
            <a:endParaRPr lang="en-US" dirty="0"/>
          </a:p>
          <a:p>
            <a:r>
              <a:rPr lang="en-US" dirty="0"/>
              <a:t>View processes logic</a:t>
            </a:r>
          </a:p>
          <a:p>
            <a:r>
              <a:rPr lang="en-US" dirty="0"/>
              <a:t>View sends data to Template</a:t>
            </a:r>
          </a:p>
          <a:p>
            <a:r>
              <a:rPr lang="en-US" dirty="0"/>
              <a:t>Template renders HTML</a:t>
            </a:r>
          </a:p>
          <a:p>
            <a:r>
              <a:rPr lang="en-US" dirty="0"/>
              <a:t>View returns </a:t>
            </a:r>
            <a:r>
              <a:rPr lang="en-US" dirty="0" err="1"/>
              <a:t>HttpResponse</a:t>
            </a:r>
            <a:r>
              <a:rPr lang="en-US" dirty="0"/>
              <a:t> to client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83568" y="5537329"/>
            <a:ext cx="690664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/>
              <a:t>Client → URL → View → </a:t>
            </a:r>
            <a:r>
              <a:rPr lang="en-IN" dirty="0" smtClean="0"/>
              <a:t> Model → </a:t>
            </a:r>
            <a:r>
              <a:rPr lang="en-IN" dirty="0"/>
              <a:t>View → Template → View → Client</a:t>
            </a:r>
          </a:p>
        </p:txBody>
      </p:sp>
    </p:spTree>
    <p:extLst>
      <p:ext uri="{BB962C8B-B14F-4D97-AF65-F5344CB8AC3E}">
        <p14:creationId xmlns:p14="http://schemas.microsoft.com/office/powerpoint/2010/main" val="2609748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7772400" cy="792088"/>
          </a:xfrm>
        </p:spPr>
        <p:txBody>
          <a:bodyPr/>
          <a:lstStyle/>
          <a:p>
            <a:r>
              <a:rPr lang="en-US" b="1" dirty="0" smtClean="0">
                <a:solidFill>
                  <a:srgbClr val="002060"/>
                </a:solidFill>
              </a:rPr>
              <a:t>Core Components</a:t>
            </a:r>
            <a:endParaRPr lang="en-IN" b="1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51520" y="980728"/>
            <a:ext cx="8892480" cy="5256584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 Models:</a:t>
            </a:r>
          </a:p>
          <a:p>
            <a:pPr lvl="2"/>
            <a:r>
              <a:rPr lang="en-IN" dirty="0"/>
              <a:t>Defines database tables</a:t>
            </a:r>
          </a:p>
          <a:p>
            <a:pPr lvl="2"/>
            <a:r>
              <a:rPr lang="en-IN" dirty="0"/>
              <a:t>Defines structure of data (fields and data types)</a:t>
            </a:r>
          </a:p>
          <a:p>
            <a:pPr lvl="2"/>
            <a:r>
              <a:rPr lang="en-IN" dirty="0"/>
              <a:t>Represents data layer</a:t>
            </a:r>
          </a:p>
          <a:p>
            <a:pPr lvl="2"/>
            <a:r>
              <a:rPr lang="en-IN" dirty="0"/>
              <a:t>Uses Django ORM (Object Relational Mapping)</a:t>
            </a:r>
          </a:p>
          <a:p>
            <a:pPr lvl="2"/>
            <a:r>
              <a:rPr lang="en-IN" dirty="0"/>
              <a:t>Handles database interactions automatically</a:t>
            </a:r>
          </a:p>
          <a:p>
            <a:r>
              <a:rPr lang="en-US" dirty="0" smtClean="0"/>
              <a:t>Templates:</a:t>
            </a:r>
          </a:p>
          <a:p>
            <a:pPr lvl="2"/>
            <a:r>
              <a:rPr lang="en-US" dirty="0" smtClean="0"/>
              <a:t>Controls how data is presented to the user.  </a:t>
            </a:r>
          </a:p>
          <a:p>
            <a:pPr lvl="2"/>
            <a:r>
              <a:rPr lang="en-US" dirty="0"/>
              <a:t>Template is HTML page</a:t>
            </a:r>
          </a:p>
          <a:p>
            <a:pPr lvl="2"/>
            <a:r>
              <a:rPr lang="en-US" dirty="0"/>
              <a:t>Displays data dynamically</a:t>
            </a:r>
          </a:p>
          <a:p>
            <a:pPr lvl="2"/>
            <a:r>
              <a:rPr lang="en-US" dirty="0"/>
              <a:t>Handles presentation layer only</a:t>
            </a:r>
          </a:p>
          <a:p>
            <a:r>
              <a:rPr lang="en-US" dirty="0" smtClean="0"/>
              <a:t>Views:</a:t>
            </a:r>
          </a:p>
          <a:p>
            <a:pPr lvl="2"/>
            <a:r>
              <a:rPr lang="en-US" dirty="0" smtClean="0"/>
              <a:t>Handles the logic of your application</a:t>
            </a:r>
          </a:p>
          <a:p>
            <a:pPr lvl="2"/>
            <a:r>
              <a:rPr lang="en-US" dirty="0" smtClean="0"/>
              <a:t>Process the user request, interacts with models and returns response to the user by consulting with templates.</a:t>
            </a:r>
          </a:p>
          <a:p>
            <a:pPr lvl="1"/>
            <a:endParaRPr lang="en-US" dirty="0" smtClean="0"/>
          </a:p>
          <a:p>
            <a:pPr lvl="1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35121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7772400" cy="1143000"/>
          </a:xfrm>
        </p:spPr>
        <p:txBody>
          <a:bodyPr/>
          <a:lstStyle/>
          <a:p>
            <a:r>
              <a:rPr lang="en-US" dirty="0" smtClean="0"/>
              <a:t>Create a Virtual environment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95536" y="1628800"/>
            <a:ext cx="7772400" cy="4572000"/>
          </a:xfrm>
        </p:spPr>
        <p:txBody>
          <a:bodyPr/>
          <a:lstStyle/>
          <a:p>
            <a:r>
              <a:rPr lang="en-US" dirty="0" smtClean="0"/>
              <a:t>python –m </a:t>
            </a:r>
            <a:r>
              <a:rPr lang="en-US" dirty="0" err="1" smtClean="0"/>
              <a:t>venv</a:t>
            </a:r>
            <a:r>
              <a:rPr lang="en-US" dirty="0" smtClean="0"/>
              <a:t> </a:t>
            </a:r>
            <a:r>
              <a:rPr lang="en-US" dirty="0" err="1" smtClean="0"/>
              <a:t>verital_env_name</a:t>
            </a:r>
            <a:endParaRPr lang="en-US" dirty="0" smtClean="0"/>
          </a:p>
          <a:p>
            <a:r>
              <a:rPr lang="en-US" dirty="0" smtClean="0"/>
              <a:t>Go to scripts</a:t>
            </a:r>
          </a:p>
          <a:p>
            <a:pPr lvl="1"/>
            <a:r>
              <a:rPr lang="en-US" dirty="0" smtClean="0"/>
              <a:t>activate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37996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188640"/>
            <a:ext cx="7772400" cy="720080"/>
          </a:xfrm>
        </p:spPr>
        <p:txBody>
          <a:bodyPr>
            <a:normAutofit fontScale="90000"/>
          </a:bodyPr>
          <a:lstStyle/>
          <a:p>
            <a:r>
              <a:rPr lang="en-IN" dirty="0"/>
              <a:t>Django Project </a:t>
            </a:r>
            <a:r>
              <a:rPr lang="en-IN" dirty="0" err="1"/>
              <a:t>vs</a:t>
            </a:r>
            <a:r>
              <a:rPr lang="en-IN" dirty="0"/>
              <a:t> Django Application: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95536" y="980728"/>
            <a:ext cx="7772400" cy="2664296"/>
          </a:xfrm>
        </p:spPr>
        <p:txBody>
          <a:bodyPr/>
          <a:lstStyle/>
          <a:p>
            <a:r>
              <a:rPr lang="en-US" dirty="0"/>
              <a:t>A Django project is a collection of applications and configurations which forms a full web </a:t>
            </a:r>
            <a:r>
              <a:rPr lang="en-US" dirty="0" smtClean="0"/>
              <a:t>application.</a:t>
            </a:r>
          </a:p>
          <a:p>
            <a:pPr lvl="1"/>
            <a:r>
              <a:rPr lang="en-IN" dirty="0"/>
              <a:t>Bank Project </a:t>
            </a:r>
            <a:endParaRPr lang="en-IN" dirty="0" smtClean="0"/>
          </a:p>
          <a:p>
            <a:r>
              <a:rPr lang="en-US" dirty="0"/>
              <a:t>A </a:t>
            </a:r>
            <a:r>
              <a:rPr lang="en-US" dirty="0" err="1"/>
              <a:t>Dango</a:t>
            </a:r>
            <a:r>
              <a:rPr lang="en-US" dirty="0"/>
              <a:t> Application is responsible to perform a particular </a:t>
            </a:r>
            <a:r>
              <a:rPr lang="en-US" dirty="0" smtClean="0"/>
              <a:t>task.</a:t>
            </a:r>
          </a:p>
          <a:p>
            <a:pPr lvl="1"/>
            <a:r>
              <a:rPr lang="en-IN" dirty="0"/>
              <a:t>loan </a:t>
            </a:r>
            <a:r>
              <a:rPr lang="en-IN" dirty="0" smtClean="0"/>
              <a:t>app,  registration </a:t>
            </a:r>
            <a:r>
              <a:rPr lang="en-IN" dirty="0"/>
              <a:t>app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4008" y="2708920"/>
            <a:ext cx="3116580" cy="2880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2737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188640"/>
            <a:ext cx="7772400" cy="576064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Creation of Django Project in VSC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23528" y="764704"/>
            <a:ext cx="7772400" cy="1368152"/>
          </a:xfrm>
        </p:spPr>
        <p:txBody>
          <a:bodyPr>
            <a:normAutofit fontScale="77500" lnSpcReduction="20000"/>
          </a:bodyPr>
          <a:lstStyle/>
          <a:p>
            <a:r>
              <a:rPr lang="en-IN" dirty="0" err="1"/>
              <a:t>django</a:t>
            </a:r>
            <a:r>
              <a:rPr lang="en-IN" dirty="0"/>
              <a:t>-admin start-project </a:t>
            </a:r>
            <a:r>
              <a:rPr lang="en-IN" dirty="0" err="1" smtClean="0"/>
              <a:t>firstProject</a:t>
            </a:r>
            <a:endParaRPr lang="en-IN" dirty="0" smtClean="0"/>
          </a:p>
          <a:p>
            <a:r>
              <a:rPr lang="en-US" dirty="0" smtClean="0"/>
              <a:t>Or python –m </a:t>
            </a:r>
            <a:r>
              <a:rPr lang="en-US" dirty="0" err="1" smtClean="0"/>
              <a:t>django</a:t>
            </a:r>
            <a:r>
              <a:rPr lang="en-US" dirty="0" smtClean="0"/>
              <a:t> </a:t>
            </a:r>
            <a:r>
              <a:rPr lang="en-IN" dirty="0"/>
              <a:t>start-project </a:t>
            </a:r>
            <a:r>
              <a:rPr lang="en-IN" dirty="0" err="1" smtClean="0"/>
              <a:t>firstProject</a:t>
            </a:r>
            <a:endParaRPr lang="en-IN" dirty="0" smtClean="0"/>
          </a:p>
          <a:p>
            <a:r>
              <a:rPr lang="en-US" dirty="0" smtClean="0"/>
              <a:t>The following structure will be created</a:t>
            </a:r>
          </a:p>
          <a:p>
            <a:pPr marL="0" indent="0">
              <a:buNone/>
            </a:pPr>
            <a:r>
              <a:rPr lang="en-US" dirty="0"/>
              <a:t>	</a:t>
            </a:r>
            <a:endParaRPr lang="en-IN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844824"/>
            <a:ext cx="2000250" cy="3581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2627784" y="1772816"/>
            <a:ext cx="6408712" cy="43319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2060"/>
                </a:solidFill>
              </a:rPr>
              <a:t>__init__.py: </a:t>
            </a:r>
            <a:r>
              <a:rPr lang="en-US" dirty="0"/>
              <a:t>It is a blank python script</a:t>
            </a:r>
            <a:r>
              <a:rPr lang="en-US" dirty="0" smtClean="0"/>
              <a:t>. Because </a:t>
            </a:r>
            <a:r>
              <a:rPr lang="en-US" dirty="0"/>
              <a:t>of this special file name, Django treated this folder as python package</a:t>
            </a:r>
            <a:r>
              <a:rPr lang="en-US" dirty="0" smtClean="0"/>
              <a:t>.</a:t>
            </a:r>
          </a:p>
          <a:p>
            <a:endParaRPr lang="en-US" sz="500" dirty="0"/>
          </a:p>
          <a:p>
            <a:r>
              <a:rPr lang="en-US" dirty="0">
                <a:solidFill>
                  <a:srgbClr val="002060"/>
                </a:solidFill>
              </a:rPr>
              <a:t>settings.py</a:t>
            </a:r>
            <a:r>
              <a:rPr lang="en-US" dirty="0"/>
              <a:t>: Database settings, Security settings, </a:t>
            </a:r>
            <a:r>
              <a:rPr lang="en-US" dirty="0" smtClean="0"/>
              <a:t>Application </a:t>
            </a:r>
            <a:r>
              <a:rPr lang="en-US" dirty="0"/>
              <a:t>Settings</a:t>
            </a:r>
          </a:p>
          <a:p>
            <a:endParaRPr lang="en-US" sz="1050" dirty="0"/>
          </a:p>
          <a:p>
            <a:r>
              <a:rPr lang="en-US" dirty="0">
                <a:solidFill>
                  <a:srgbClr val="002060"/>
                </a:solidFill>
              </a:rPr>
              <a:t>urls.py: </a:t>
            </a:r>
            <a:r>
              <a:rPr lang="en-US" dirty="0" smtClean="0">
                <a:solidFill>
                  <a:srgbClr val="002060"/>
                </a:solidFill>
              </a:rPr>
              <a:t> </a:t>
            </a:r>
            <a:r>
              <a:rPr lang="en-US" dirty="0" smtClean="0"/>
              <a:t>Maps URL to view</a:t>
            </a:r>
          </a:p>
          <a:p>
            <a:endParaRPr lang="en-US" sz="800" dirty="0"/>
          </a:p>
          <a:p>
            <a:r>
              <a:rPr lang="en-US" dirty="0">
                <a:solidFill>
                  <a:srgbClr val="002060"/>
                </a:solidFill>
              </a:rPr>
              <a:t>wsgi.py: </a:t>
            </a:r>
            <a:r>
              <a:rPr lang="en-US" dirty="0"/>
              <a:t>	</a:t>
            </a:r>
            <a:r>
              <a:rPr lang="en-US" dirty="0" err="1" smtClean="0"/>
              <a:t>wsgi</a:t>
            </a:r>
            <a:r>
              <a:rPr lang="en-US" dirty="0" smtClean="0"/>
              <a:t> - &gt; Web </a:t>
            </a:r>
            <a:r>
              <a:rPr lang="en-US" dirty="0"/>
              <a:t>Server Gateway Interface. </a:t>
            </a:r>
            <a:endParaRPr lang="en-US" dirty="0" smtClean="0"/>
          </a:p>
          <a:p>
            <a:r>
              <a:rPr lang="en-US" dirty="0"/>
              <a:t>	Helps communicate with web servers like</a:t>
            </a:r>
          </a:p>
          <a:p>
            <a:pPr lvl="1"/>
            <a:r>
              <a:rPr lang="en-US" b="1" dirty="0" smtClean="0"/>
              <a:t>		</a:t>
            </a:r>
            <a:r>
              <a:rPr lang="en-US" b="1" dirty="0" err="1" smtClean="0"/>
              <a:t>Gunicorn</a:t>
            </a:r>
            <a:endParaRPr lang="en-US" dirty="0"/>
          </a:p>
          <a:p>
            <a:pPr lvl="1"/>
            <a:r>
              <a:rPr lang="en-US" b="1" dirty="0" smtClean="0"/>
              <a:t>		Apache </a:t>
            </a:r>
            <a:r>
              <a:rPr lang="en-US" b="1" dirty="0"/>
              <a:t>HTTP Server</a:t>
            </a:r>
            <a:endParaRPr lang="en-US" dirty="0"/>
          </a:p>
          <a:p>
            <a:r>
              <a:rPr lang="en-US" dirty="0" smtClean="0"/>
              <a:t>	Used </a:t>
            </a:r>
            <a:r>
              <a:rPr lang="en-US" dirty="0"/>
              <a:t>in production environment.</a:t>
            </a:r>
          </a:p>
          <a:p>
            <a:r>
              <a:rPr lang="en-US" dirty="0" smtClean="0">
                <a:solidFill>
                  <a:srgbClr val="002060"/>
                </a:solidFill>
              </a:rPr>
              <a:t>manage.py: </a:t>
            </a:r>
            <a:r>
              <a:rPr lang="en-US" dirty="0"/>
              <a:t>Run development </a:t>
            </a:r>
            <a:r>
              <a:rPr lang="en-US" dirty="0" smtClean="0"/>
              <a:t>servers, Create apps, Apply </a:t>
            </a:r>
            <a:r>
              <a:rPr lang="en-US" dirty="0"/>
              <a:t>migrations</a:t>
            </a:r>
          </a:p>
          <a:p>
            <a:r>
              <a:rPr lang="en-US" dirty="0"/>
              <a:t>Open Django shell</a:t>
            </a:r>
          </a:p>
          <a:p>
            <a:r>
              <a:rPr lang="en-IN" dirty="0">
                <a:solidFill>
                  <a:srgbClr val="002060"/>
                </a:solidFill>
              </a:rPr>
              <a:t>asgi.py : </a:t>
            </a:r>
            <a:r>
              <a:rPr lang="en-IN" dirty="0"/>
              <a:t>Used for asynchronous </a:t>
            </a:r>
            <a:r>
              <a:rPr lang="en-IN" dirty="0" smtClean="0"/>
              <a:t>(</a:t>
            </a:r>
            <a:r>
              <a:rPr lang="en-US" dirty="0"/>
              <a:t>The system can handle multiple tasks at the same time without waiting for one task to finish before starting </a:t>
            </a:r>
            <a:r>
              <a:rPr lang="en-US" dirty="0" smtClean="0"/>
              <a:t>another</a:t>
            </a:r>
            <a:r>
              <a:rPr lang="en-IN" dirty="0" smtClean="0"/>
              <a:t>) support. </a:t>
            </a:r>
            <a:r>
              <a:rPr lang="en-US" dirty="0" smtClean="0"/>
              <a:t>It supports </a:t>
            </a:r>
            <a:r>
              <a:rPr lang="en-IN" dirty="0" smtClean="0"/>
              <a:t>Real-time applications.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11983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23528" y="260648"/>
            <a:ext cx="7772400" cy="4572000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 smtClean="0"/>
              <a:t>To run the server – </a:t>
            </a:r>
          </a:p>
          <a:p>
            <a:pPr marL="0" indent="0">
              <a:buNone/>
            </a:pPr>
            <a:r>
              <a:rPr lang="en-US" b="1" dirty="0"/>
              <a:t>	</a:t>
            </a:r>
            <a:endParaRPr lang="en-US" b="1" dirty="0" smtClean="0"/>
          </a:p>
          <a:p>
            <a:pPr marL="0" indent="0">
              <a:buNone/>
            </a:pPr>
            <a:r>
              <a:rPr lang="en-US" b="1" dirty="0" smtClean="0"/>
              <a:t>	python manage.py </a:t>
            </a:r>
            <a:r>
              <a:rPr lang="en-US" b="1" dirty="0" err="1" smtClean="0"/>
              <a:t>runserver</a:t>
            </a:r>
            <a:endParaRPr lang="en-US" b="1" dirty="0" smtClean="0"/>
          </a:p>
          <a:p>
            <a:pPr marL="320040" lvl="1" indent="0">
              <a:buNone/>
            </a:pPr>
            <a:endParaRPr lang="en-US" dirty="0" smtClean="0"/>
          </a:p>
          <a:p>
            <a:pPr marL="868680" lvl="3" indent="0">
              <a:buNone/>
            </a:pPr>
            <a:r>
              <a:rPr lang="en-US" dirty="0" smtClean="0"/>
              <a:t>Watching </a:t>
            </a:r>
            <a:r>
              <a:rPr lang="en-US" dirty="0"/>
              <a:t>for file changes with </a:t>
            </a:r>
            <a:r>
              <a:rPr lang="en-US" dirty="0" err="1"/>
              <a:t>StatReloader</a:t>
            </a:r>
            <a:endParaRPr lang="en-US" dirty="0"/>
          </a:p>
          <a:p>
            <a:pPr marL="868680" lvl="3" indent="0">
              <a:buNone/>
            </a:pPr>
            <a:r>
              <a:rPr lang="en-US" dirty="0"/>
              <a:t>Performing system checks...</a:t>
            </a:r>
          </a:p>
          <a:p>
            <a:pPr marL="868680" lvl="3" indent="0">
              <a:buNone/>
            </a:pPr>
            <a:endParaRPr lang="en-US" dirty="0"/>
          </a:p>
          <a:p>
            <a:pPr marL="868680" lvl="3" indent="0">
              <a:buNone/>
            </a:pPr>
            <a:r>
              <a:rPr lang="en-US" dirty="0"/>
              <a:t>System check identified no issues (0 silenced).</a:t>
            </a:r>
          </a:p>
          <a:p>
            <a:pPr marL="868680" lvl="3" indent="0">
              <a:buNone/>
            </a:pPr>
            <a:r>
              <a:rPr lang="en-US" dirty="0" smtClean="0"/>
              <a:t> </a:t>
            </a:r>
            <a:endParaRPr lang="en-US" dirty="0"/>
          </a:p>
          <a:p>
            <a:pPr marL="868680" lvl="3" indent="0">
              <a:buNone/>
            </a:pPr>
            <a:r>
              <a:rPr lang="en-US" dirty="0"/>
              <a:t>Run 'python manage.py migrate' to apply them.</a:t>
            </a:r>
          </a:p>
          <a:p>
            <a:pPr marL="868680" lvl="3" indent="0">
              <a:buNone/>
            </a:pPr>
            <a:r>
              <a:rPr lang="en-US" dirty="0"/>
              <a:t>March 07, 2025 - 07:18:25</a:t>
            </a:r>
          </a:p>
          <a:p>
            <a:pPr marL="868680" lvl="3" indent="0">
              <a:buNone/>
            </a:pPr>
            <a:r>
              <a:rPr lang="en-US" dirty="0"/>
              <a:t>Django version 5.1.7, using settings '</a:t>
            </a:r>
            <a:r>
              <a:rPr lang="en-US" dirty="0" err="1"/>
              <a:t>firstProject.settings</a:t>
            </a:r>
            <a:r>
              <a:rPr lang="en-US" dirty="0"/>
              <a:t>'</a:t>
            </a:r>
          </a:p>
          <a:p>
            <a:pPr marL="868680" lvl="3" indent="0">
              <a:buNone/>
            </a:pPr>
            <a:r>
              <a:rPr lang="en-US" dirty="0"/>
              <a:t>Starting development server at http://127.0.0.1:8000/</a:t>
            </a:r>
          </a:p>
          <a:p>
            <a:pPr marL="868680" lvl="3" indent="0">
              <a:buNone/>
            </a:pPr>
            <a:r>
              <a:rPr lang="en-US" dirty="0"/>
              <a:t>Quit the server with CTRL-BREAK.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260794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260648"/>
            <a:ext cx="7772400" cy="792088"/>
          </a:xfrm>
        </p:spPr>
        <p:txBody>
          <a:bodyPr/>
          <a:lstStyle/>
          <a:p>
            <a:r>
              <a:rPr lang="en-US" dirty="0" smtClean="0"/>
              <a:t>Creation of App in Project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95536" y="1052736"/>
            <a:ext cx="7772400" cy="4572000"/>
          </a:xfrm>
        </p:spPr>
        <p:txBody>
          <a:bodyPr/>
          <a:lstStyle/>
          <a:p>
            <a:r>
              <a:rPr lang="en-IN" dirty="0"/>
              <a:t>python .\manage.py </a:t>
            </a:r>
            <a:r>
              <a:rPr lang="en-IN" dirty="0" err="1"/>
              <a:t>startapp</a:t>
            </a:r>
            <a:r>
              <a:rPr lang="en-IN" dirty="0"/>
              <a:t> </a:t>
            </a:r>
            <a:r>
              <a:rPr lang="en-IN" dirty="0" smtClean="0"/>
              <a:t>App1</a:t>
            </a:r>
          </a:p>
          <a:p>
            <a:r>
              <a:rPr lang="en-US" dirty="0" smtClean="0"/>
              <a:t>The following structure will be created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736" y="2060848"/>
            <a:ext cx="1777264" cy="42264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483768" y="2060848"/>
            <a:ext cx="633670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IN" sz="2400" b="1" dirty="0" smtClean="0"/>
              <a:t>models.py</a:t>
            </a:r>
            <a:r>
              <a:rPr lang="en-IN" sz="2400" dirty="0" smtClean="0"/>
              <a:t> -</a:t>
            </a:r>
            <a:r>
              <a:rPr lang="en-IN" sz="2400" b="1" dirty="0" smtClean="0"/>
              <a:t> </a:t>
            </a:r>
            <a:r>
              <a:rPr lang="en-IN" sz="2400" dirty="0" smtClean="0"/>
              <a:t>Defines </a:t>
            </a:r>
            <a:r>
              <a:rPr lang="en-IN" sz="2400" dirty="0"/>
              <a:t>database tables.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IN" sz="2400" b="1" dirty="0" smtClean="0"/>
              <a:t>views.py </a:t>
            </a:r>
            <a:r>
              <a:rPr lang="en-IN" sz="2400" dirty="0"/>
              <a:t> </a:t>
            </a:r>
            <a:r>
              <a:rPr lang="en-IN" sz="2400" dirty="0" smtClean="0"/>
              <a:t>- Handles </a:t>
            </a:r>
            <a:r>
              <a:rPr lang="en-IN" sz="2400" dirty="0"/>
              <a:t>business logic.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IN" sz="2400" b="1" dirty="0" smtClean="0"/>
              <a:t>admin.py </a:t>
            </a:r>
            <a:r>
              <a:rPr lang="en-IN" sz="2400" dirty="0"/>
              <a:t> -</a:t>
            </a:r>
            <a:r>
              <a:rPr lang="en-IN" sz="2400" b="1" dirty="0" smtClean="0"/>
              <a:t> </a:t>
            </a:r>
            <a:r>
              <a:rPr lang="en-IN" sz="2400" dirty="0" smtClean="0"/>
              <a:t>Registers </a:t>
            </a:r>
            <a:r>
              <a:rPr lang="en-IN" sz="2400" dirty="0"/>
              <a:t>models for Django Admin panel.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IN" sz="2400" b="1" dirty="0" smtClean="0"/>
              <a:t>tests.py </a:t>
            </a:r>
            <a:r>
              <a:rPr lang="en-IN" sz="2400" dirty="0"/>
              <a:t> </a:t>
            </a:r>
            <a:r>
              <a:rPr lang="en-IN" sz="2400" dirty="0" smtClean="0"/>
              <a:t>- Used </a:t>
            </a:r>
            <a:r>
              <a:rPr lang="en-IN" sz="2400" dirty="0"/>
              <a:t>for testing.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IN" sz="2400" b="1" dirty="0" smtClean="0"/>
              <a:t>migrations/ </a:t>
            </a:r>
            <a:r>
              <a:rPr lang="en-IN" sz="2400" dirty="0"/>
              <a:t> -</a:t>
            </a:r>
            <a:r>
              <a:rPr lang="en-IN" sz="2400" b="1" dirty="0" smtClean="0"/>
              <a:t> </a:t>
            </a:r>
            <a:r>
              <a:rPr lang="en-IN" sz="2400" dirty="0" smtClean="0"/>
              <a:t>Stores </a:t>
            </a:r>
            <a:r>
              <a:rPr lang="en-IN" sz="2400" dirty="0"/>
              <a:t>database change history.</a:t>
            </a:r>
          </a:p>
        </p:txBody>
      </p:sp>
    </p:spTree>
    <p:extLst>
      <p:ext uri="{BB962C8B-B14F-4D97-AF65-F5344CB8AC3E}">
        <p14:creationId xmlns:p14="http://schemas.microsoft.com/office/powerpoint/2010/main" val="2487869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260648"/>
            <a:ext cx="7772400" cy="1143000"/>
          </a:xfrm>
        </p:spPr>
        <p:txBody>
          <a:bodyPr/>
          <a:lstStyle/>
          <a:p>
            <a:r>
              <a:rPr lang="en-US" dirty="0" smtClean="0"/>
              <a:t>Activities Required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23528" y="1556792"/>
            <a:ext cx="8568952" cy="4572000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Activity-1: </a:t>
            </a:r>
            <a:r>
              <a:rPr lang="en-US" dirty="0"/>
              <a:t>Add our application in settings.py</a:t>
            </a:r>
            <a:r>
              <a:rPr lang="en-US" dirty="0" smtClean="0"/>
              <a:t>, so </a:t>
            </a:r>
            <a:r>
              <a:rPr lang="en-US" dirty="0"/>
              <a:t>that Django aware about our </a:t>
            </a:r>
            <a:r>
              <a:rPr lang="en-US" dirty="0" smtClean="0"/>
              <a:t>application.</a:t>
            </a:r>
          </a:p>
          <a:p>
            <a:pPr marL="0" indent="0">
              <a:buNone/>
            </a:pPr>
            <a:r>
              <a:rPr lang="en-IN" dirty="0" smtClean="0"/>
              <a:t>	INSTALLED_APPS </a:t>
            </a:r>
            <a:r>
              <a:rPr lang="en-IN" dirty="0"/>
              <a:t>= [ </a:t>
            </a:r>
            <a:endParaRPr lang="en-IN" dirty="0" smtClean="0"/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'</a:t>
            </a:r>
            <a:r>
              <a:rPr lang="en-IN" dirty="0" err="1" smtClean="0"/>
              <a:t>django.contrib.admin</a:t>
            </a:r>
            <a:r>
              <a:rPr lang="en-IN" dirty="0"/>
              <a:t>', </a:t>
            </a:r>
            <a:endParaRPr lang="en-IN" dirty="0" smtClean="0"/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'</a:t>
            </a:r>
            <a:r>
              <a:rPr lang="en-IN" dirty="0" err="1" smtClean="0"/>
              <a:t>django.contrib.auth</a:t>
            </a:r>
            <a:r>
              <a:rPr lang="en-IN" dirty="0"/>
              <a:t>', </a:t>
            </a:r>
            <a:endParaRPr lang="en-IN" dirty="0" smtClean="0"/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'</a:t>
            </a:r>
            <a:r>
              <a:rPr lang="en-IN" dirty="0" err="1" smtClean="0"/>
              <a:t>django.contrib.contenttypes</a:t>
            </a:r>
            <a:r>
              <a:rPr lang="en-IN" dirty="0"/>
              <a:t>', </a:t>
            </a:r>
            <a:endParaRPr lang="en-IN" dirty="0" smtClean="0"/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'</a:t>
            </a:r>
            <a:r>
              <a:rPr lang="en-IN" dirty="0" err="1" smtClean="0"/>
              <a:t>django.contrib.sessions</a:t>
            </a:r>
            <a:r>
              <a:rPr lang="en-IN" dirty="0"/>
              <a:t>', </a:t>
            </a:r>
            <a:endParaRPr lang="en-IN" dirty="0" smtClean="0"/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'</a:t>
            </a:r>
            <a:r>
              <a:rPr lang="en-IN" dirty="0" err="1" smtClean="0"/>
              <a:t>django.contrib.messages</a:t>
            </a:r>
            <a:r>
              <a:rPr lang="en-IN" dirty="0"/>
              <a:t>', </a:t>
            </a:r>
            <a:endParaRPr lang="en-IN" dirty="0" smtClean="0"/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'</a:t>
            </a:r>
            <a:r>
              <a:rPr lang="en-IN" dirty="0" err="1" smtClean="0"/>
              <a:t>django.contrib.staticfiles</a:t>
            </a:r>
            <a:r>
              <a:rPr lang="en-IN" dirty="0"/>
              <a:t>', </a:t>
            </a:r>
            <a:endParaRPr lang="en-IN" dirty="0" smtClean="0"/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 ‘</a:t>
            </a:r>
            <a:r>
              <a:rPr lang="en-IN" dirty="0" smtClean="0">
                <a:solidFill>
                  <a:srgbClr val="002060"/>
                </a:solidFill>
              </a:rPr>
              <a:t>App1</a:t>
            </a:r>
            <a:r>
              <a:rPr lang="en-IN" dirty="0" smtClean="0"/>
              <a:t>‘, ]</a:t>
            </a:r>
            <a:endParaRPr lang="en-IN" dirty="0"/>
          </a:p>
        </p:txBody>
      </p:sp>
      <p:sp>
        <p:nvSpPr>
          <p:cNvPr id="4" name="Right Brace 3"/>
          <p:cNvSpPr/>
          <p:nvPr/>
        </p:nvSpPr>
        <p:spPr>
          <a:xfrm>
            <a:off x="4499992" y="2348880"/>
            <a:ext cx="1296144" cy="3384376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6080712" y="3650948"/>
            <a:ext cx="25202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Settings.py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1065646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23528" y="332656"/>
            <a:ext cx="8208912" cy="2592288"/>
          </a:xfrm>
        </p:spPr>
        <p:txBody>
          <a:bodyPr/>
          <a:lstStyle/>
          <a:p>
            <a:r>
              <a:rPr lang="en-US" dirty="0"/>
              <a:t>Activity 2: Create a view for our application in </a:t>
            </a:r>
            <a:r>
              <a:rPr lang="en-US" dirty="0">
                <a:solidFill>
                  <a:srgbClr val="002060"/>
                </a:solidFill>
              </a:rPr>
              <a:t>views.py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dirty="0"/>
              <a:t>View is responsible to prepare required response to the end user. </a:t>
            </a:r>
            <a:r>
              <a:rPr lang="en-US" dirty="0" err="1"/>
              <a:t>i.e</a:t>
            </a:r>
            <a:r>
              <a:rPr lang="en-US" dirty="0"/>
              <a:t> view contains business logic. </a:t>
            </a:r>
            <a:endParaRPr lang="en-US" dirty="0" smtClean="0"/>
          </a:p>
          <a:p>
            <a:pPr lvl="1"/>
            <a:r>
              <a:rPr lang="en-US" dirty="0" smtClean="0"/>
              <a:t> </a:t>
            </a:r>
            <a:r>
              <a:rPr lang="en-US" dirty="0"/>
              <a:t>There are 2 types of views. </a:t>
            </a:r>
            <a:endParaRPr lang="en-US" dirty="0" smtClean="0"/>
          </a:p>
          <a:p>
            <a:pPr lvl="2"/>
            <a:r>
              <a:rPr lang="en-US" dirty="0" smtClean="0"/>
              <a:t>1</a:t>
            </a:r>
            <a:r>
              <a:rPr lang="en-US" dirty="0"/>
              <a:t>) Function Based Views </a:t>
            </a:r>
            <a:r>
              <a:rPr lang="en-US" dirty="0" smtClean="0"/>
              <a:t> - As of now we are focusing on function based</a:t>
            </a:r>
          </a:p>
          <a:p>
            <a:pPr lvl="2"/>
            <a:r>
              <a:rPr lang="en-US" dirty="0" smtClean="0"/>
              <a:t>2</a:t>
            </a:r>
            <a:r>
              <a:rPr lang="en-US" dirty="0"/>
              <a:t>) Class Based </a:t>
            </a:r>
            <a:r>
              <a:rPr lang="en-US" dirty="0" smtClean="0"/>
              <a:t>Views</a:t>
            </a:r>
          </a:p>
          <a:p>
            <a:pPr lvl="2"/>
            <a:endParaRPr lang="en-US" dirty="0"/>
          </a:p>
          <a:p>
            <a:pPr marL="594360" lvl="2" indent="0">
              <a:buNone/>
            </a:pPr>
            <a:endParaRPr lang="en-IN" dirty="0"/>
          </a:p>
        </p:txBody>
      </p:sp>
      <p:sp>
        <p:nvSpPr>
          <p:cNvPr id="4" name="TextBox 3"/>
          <p:cNvSpPr txBox="1"/>
          <p:nvPr/>
        </p:nvSpPr>
        <p:spPr>
          <a:xfrm>
            <a:off x="683568" y="3140968"/>
            <a:ext cx="820891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from </a:t>
            </a:r>
            <a:r>
              <a:rPr lang="en-US" sz="2400" dirty="0" err="1"/>
              <a:t>django.shortcuts</a:t>
            </a:r>
            <a:r>
              <a:rPr lang="en-US" sz="2400" dirty="0"/>
              <a:t> import render </a:t>
            </a:r>
            <a:endParaRPr lang="en-US" sz="2400" dirty="0" smtClean="0"/>
          </a:p>
          <a:p>
            <a:r>
              <a:rPr lang="en-US" sz="2400" dirty="0" smtClean="0"/>
              <a:t>from </a:t>
            </a:r>
            <a:r>
              <a:rPr lang="en-US" sz="2400" dirty="0" err="1"/>
              <a:t>django.http</a:t>
            </a:r>
            <a:r>
              <a:rPr lang="en-US" sz="2400" dirty="0"/>
              <a:t> import </a:t>
            </a:r>
            <a:r>
              <a:rPr lang="en-US" sz="2400" dirty="0" err="1" smtClean="0"/>
              <a:t>HttpResponse</a:t>
            </a:r>
            <a:endParaRPr lang="en-US" sz="2400" dirty="0" smtClean="0"/>
          </a:p>
          <a:p>
            <a:r>
              <a:rPr lang="en-US" sz="2400" dirty="0" err="1" smtClean="0"/>
              <a:t>def</a:t>
            </a:r>
            <a:r>
              <a:rPr lang="en-US" sz="2400" dirty="0" smtClean="0"/>
              <a:t> </a:t>
            </a:r>
            <a:r>
              <a:rPr lang="en-US" sz="2400" dirty="0"/>
              <a:t>display(request</a:t>
            </a:r>
            <a:r>
              <a:rPr lang="en-US" sz="2400" dirty="0" smtClean="0"/>
              <a:t>):</a:t>
            </a:r>
          </a:p>
          <a:p>
            <a:r>
              <a:rPr lang="en-US" sz="2400" dirty="0" smtClean="0"/>
              <a:t>	return </a:t>
            </a:r>
            <a:r>
              <a:rPr lang="en-US" sz="2400" dirty="0" err="1"/>
              <a:t>HttpResponse</a:t>
            </a:r>
            <a:r>
              <a:rPr lang="en-US" sz="2400" dirty="0"/>
              <a:t>('&lt;h1&gt; Good Morning&lt;/h1&gt;')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514134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51520" y="188640"/>
            <a:ext cx="8784976" cy="5472608"/>
          </a:xfrm>
        </p:spPr>
        <p:txBody>
          <a:bodyPr/>
          <a:lstStyle/>
          <a:p>
            <a:r>
              <a:rPr lang="en-US" dirty="0"/>
              <a:t>Activity-3: Define </a:t>
            </a:r>
            <a:r>
              <a:rPr lang="en-US" dirty="0" err="1"/>
              <a:t>url</a:t>
            </a:r>
            <a:r>
              <a:rPr lang="en-US" dirty="0"/>
              <a:t>-pattern for our view in urls.py </a:t>
            </a:r>
            <a:r>
              <a:rPr lang="en-US" dirty="0" smtClean="0"/>
              <a:t>file</a:t>
            </a:r>
          </a:p>
          <a:p>
            <a:pPr lvl="1"/>
            <a:r>
              <a:rPr lang="en-US" dirty="0"/>
              <a:t>This </a:t>
            </a:r>
            <a:r>
              <a:rPr lang="en-US" dirty="0" err="1"/>
              <a:t>url</a:t>
            </a:r>
            <a:r>
              <a:rPr lang="en-US" dirty="0"/>
              <a:t>-pattern will be used by end-user to send request for our views. </a:t>
            </a:r>
            <a:endParaRPr lang="en-US" dirty="0" smtClean="0"/>
          </a:p>
          <a:p>
            <a:pPr lvl="1"/>
            <a:r>
              <a:rPr lang="en-US" dirty="0" smtClean="0"/>
              <a:t>The </a:t>
            </a:r>
            <a:r>
              <a:rPr lang="en-US" dirty="0"/>
              <a:t>'</a:t>
            </a:r>
            <a:r>
              <a:rPr lang="en-US" dirty="0" err="1"/>
              <a:t>urlpatterns</a:t>
            </a:r>
            <a:r>
              <a:rPr lang="en-US" dirty="0"/>
              <a:t>' list routes URLs to views</a:t>
            </a:r>
            <a:r>
              <a:rPr lang="en-US" dirty="0" smtClean="0"/>
              <a:t>.</a:t>
            </a:r>
          </a:p>
          <a:p>
            <a:pPr lvl="1"/>
            <a:endParaRPr lang="en-US" dirty="0"/>
          </a:p>
          <a:p>
            <a:r>
              <a:rPr lang="en-US" dirty="0"/>
              <a:t>For functional views we have to do the following 2 activities: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	1</a:t>
            </a:r>
            <a:r>
              <a:rPr lang="en-US" dirty="0"/>
              <a:t>) Add an import: from </a:t>
            </a:r>
            <a:r>
              <a:rPr lang="en-US" b="1" dirty="0" smtClean="0"/>
              <a:t>App1</a:t>
            </a:r>
            <a:r>
              <a:rPr lang="en-US" dirty="0" smtClean="0"/>
              <a:t> </a:t>
            </a:r>
            <a:r>
              <a:rPr lang="en-US" dirty="0"/>
              <a:t>import views 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2</a:t>
            </a:r>
            <a:r>
              <a:rPr lang="en-US" dirty="0"/>
              <a:t>) </a:t>
            </a:r>
            <a:r>
              <a:rPr lang="en-IN" dirty="0"/>
              <a:t> path('GM/', </a:t>
            </a:r>
            <a:r>
              <a:rPr lang="en-IN" dirty="0" err="1" smtClean="0"/>
              <a:t>views.display</a:t>
            </a:r>
            <a:r>
              <a:rPr lang="en-IN" dirty="0" smtClean="0"/>
              <a:t>),</a:t>
            </a: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899592" y="3501008"/>
            <a:ext cx="741682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/>
              <a:t>from </a:t>
            </a:r>
            <a:r>
              <a:rPr lang="en-IN" dirty="0" err="1"/>
              <a:t>django.contrib</a:t>
            </a:r>
            <a:r>
              <a:rPr lang="en-IN" dirty="0"/>
              <a:t> import admin</a:t>
            </a:r>
          </a:p>
          <a:p>
            <a:r>
              <a:rPr lang="en-IN" dirty="0"/>
              <a:t>from </a:t>
            </a:r>
            <a:r>
              <a:rPr lang="en-IN" dirty="0" err="1"/>
              <a:t>django.urls</a:t>
            </a:r>
            <a:r>
              <a:rPr lang="en-IN" dirty="0"/>
              <a:t> import path</a:t>
            </a:r>
          </a:p>
          <a:p>
            <a:r>
              <a:rPr lang="en-IN" dirty="0"/>
              <a:t>from </a:t>
            </a:r>
            <a:r>
              <a:rPr lang="en-IN" dirty="0" smtClean="0"/>
              <a:t>App1 </a:t>
            </a:r>
            <a:r>
              <a:rPr lang="en-IN" dirty="0"/>
              <a:t>import views</a:t>
            </a:r>
          </a:p>
          <a:p>
            <a:r>
              <a:rPr lang="en-IN" dirty="0" err="1"/>
              <a:t>urlpatterns</a:t>
            </a:r>
            <a:r>
              <a:rPr lang="en-IN" dirty="0"/>
              <a:t> = [</a:t>
            </a:r>
          </a:p>
          <a:p>
            <a:r>
              <a:rPr lang="en-IN" dirty="0"/>
              <a:t>    path('admin/', </a:t>
            </a:r>
            <a:r>
              <a:rPr lang="en-IN" dirty="0" err="1"/>
              <a:t>admin.site.urls</a:t>
            </a:r>
            <a:r>
              <a:rPr lang="en-IN" dirty="0"/>
              <a:t>),</a:t>
            </a:r>
          </a:p>
          <a:p>
            <a:r>
              <a:rPr lang="en-IN" dirty="0"/>
              <a:t>    path('GM/', </a:t>
            </a:r>
            <a:r>
              <a:rPr lang="en-IN" dirty="0" err="1" smtClean="0"/>
              <a:t>views.display</a:t>
            </a:r>
            <a:r>
              <a:rPr lang="en-IN" dirty="0" smtClean="0"/>
              <a:t>), </a:t>
            </a:r>
            <a:endParaRPr lang="en-IN" dirty="0"/>
          </a:p>
          <a:p>
            <a:r>
              <a:rPr lang="en-IN" dirty="0"/>
              <a:t/>
            </a:r>
            <a:br>
              <a:rPr lang="en-IN" dirty="0"/>
            </a:br>
            <a:r>
              <a:rPr lang="en-IN" dirty="0"/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38880542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23528" y="404664"/>
            <a:ext cx="7772400" cy="4572000"/>
          </a:xfrm>
        </p:spPr>
        <p:txBody>
          <a:bodyPr/>
          <a:lstStyle/>
          <a:p>
            <a:r>
              <a:rPr lang="en-US" dirty="0" smtClean="0"/>
              <a:t>Activity 4: Start </a:t>
            </a:r>
            <a:r>
              <a:rPr lang="en-US" dirty="0"/>
              <a:t>Server and Send the </a:t>
            </a:r>
            <a:r>
              <a:rPr lang="en-US" dirty="0" smtClean="0"/>
              <a:t>request</a:t>
            </a:r>
          </a:p>
          <a:p>
            <a:r>
              <a:rPr lang="en-US" dirty="0" err="1"/>
              <a:t>py</a:t>
            </a:r>
            <a:r>
              <a:rPr lang="en-US" dirty="0"/>
              <a:t> manage.py </a:t>
            </a:r>
            <a:r>
              <a:rPr lang="en-US" dirty="0" err="1"/>
              <a:t>runserver</a:t>
            </a:r>
            <a:r>
              <a:rPr lang="en-US" dirty="0"/>
              <a:t> </a:t>
            </a:r>
            <a:endParaRPr lang="en-US" dirty="0" smtClean="0"/>
          </a:p>
          <a:p>
            <a:r>
              <a:rPr lang="en-US" dirty="0" smtClean="0"/>
              <a:t>http</a:t>
            </a:r>
            <a:r>
              <a:rPr lang="en-US" dirty="0"/>
              <a:t>://</a:t>
            </a:r>
            <a:r>
              <a:rPr lang="en-US" dirty="0" smtClean="0"/>
              <a:t>127.0.0.1:8000/GM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592" y="2204864"/>
            <a:ext cx="6960773" cy="288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1126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188640"/>
            <a:ext cx="8352928" cy="114300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C00000"/>
                </a:solidFill>
              </a:rPr>
              <a:t>Summary of Sequence of Activities related to Django Project:</a:t>
            </a:r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539552" y="1412776"/>
            <a:ext cx="7772400" cy="4572000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rgbClr val="002060"/>
                </a:solidFill>
              </a:rPr>
              <a:t>Creation of Django project </a:t>
            </a:r>
            <a:endParaRPr lang="en-IN" dirty="0" smtClean="0">
              <a:solidFill>
                <a:srgbClr val="002060"/>
              </a:solidFill>
            </a:endParaRPr>
          </a:p>
          <a:p>
            <a:pPr lvl="1"/>
            <a:r>
              <a:rPr lang="en-IN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django</a:t>
            </a:r>
            <a:r>
              <a:rPr lang="en-IN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-admin </a:t>
            </a:r>
            <a:r>
              <a:rPr lang="en-IN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startproject</a:t>
            </a: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IN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firstProject</a:t>
            </a: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endParaRPr lang="en-IN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IN" dirty="0" smtClean="0">
                <a:solidFill>
                  <a:srgbClr val="002060"/>
                </a:solidFill>
              </a:rPr>
              <a:t>Creation </a:t>
            </a:r>
            <a:r>
              <a:rPr lang="en-IN" dirty="0">
                <a:solidFill>
                  <a:srgbClr val="002060"/>
                </a:solidFill>
              </a:rPr>
              <a:t>of Application in that project </a:t>
            </a:r>
            <a:endParaRPr lang="en-IN" dirty="0" smtClean="0">
              <a:solidFill>
                <a:srgbClr val="002060"/>
              </a:solidFill>
            </a:endParaRPr>
          </a:p>
          <a:p>
            <a:pPr lvl="1"/>
            <a:r>
              <a:rPr lang="en-IN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py</a:t>
            </a:r>
            <a:r>
              <a:rPr lang="en-IN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manage.py </a:t>
            </a:r>
            <a:r>
              <a:rPr lang="en-IN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startapp</a:t>
            </a: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IN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App1</a:t>
            </a:r>
          </a:p>
          <a:p>
            <a:r>
              <a:rPr lang="en-IN" dirty="0" smtClean="0">
                <a:solidFill>
                  <a:srgbClr val="002060"/>
                </a:solidFill>
              </a:rPr>
              <a:t>Add </a:t>
            </a:r>
            <a:r>
              <a:rPr lang="en-IN" dirty="0">
                <a:solidFill>
                  <a:srgbClr val="002060"/>
                </a:solidFill>
              </a:rPr>
              <a:t>application to the Project (inside settings.py) </a:t>
            </a:r>
            <a:endParaRPr lang="en-IN" dirty="0" smtClean="0">
              <a:solidFill>
                <a:srgbClr val="002060"/>
              </a:solidFill>
            </a:endParaRPr>
          </a:p>
          <a:p>
            <a:r>
              <a:rPr lang="en-IN" dirty="0" smtClean="0">
                <a:solidFill>
                  <a:srgbClr val="002060"/>
                </a:solidFill>
              </a:rPr>
              <a:t>Define </a:t>
            </a:r>
            <a:r>
              <a:rPr lang="en-IN" dirty="0">
                <a:solidFill>
                  <a:srgbClr val="002060"/>
                </a:solidFill>
              </a:rPr>
              <a:t>view function inside views.py </a:t>
            </a:r>
            <a:endParaRPr lang="en-IN" dirty="0" smtClean="0">
              <a:solidFill>
                <a:srgbClr val="002060"/>
              </a:solidFill>
            </a:endParaRPr>
          </a:p>
          <a:p>
            <a:r>
              <a:rPr lang="en-IN" dirty="0" smtClean="0">
                <a:solidFill>
                  <a:srgbClr val="002060"/>
                </a:solidFill>
              </a:rPr>
              <a:t>Define </a:t>
            </a:r>
            <a:r>
              <a:rPr lang="en-IN" dirty="0" err="1">
                <a:solidFill>
                  <a:srgbClr val="002060"/>
                </a:solidFill>
              </a:rPr>
              <a:t>url</a:t>
            </a:r>
            <a:r>
              <a:rPr lang="en-IN" dirty="0">
                <a:solidFill>
                  <a:srgbClr val="002060"/>
                </a:solidFill>
              </a:rPr>
              <a:t>-pattern for our view inside urls.py </a:t>
            </a:r>
            <a:endParaRPr lang="en-IN" dirty="0" smtClean="0">
              <a:solidFill>
                <a:srgbClr val="002060"/>
              </a:solidFill>
            </a:endParaRPr>
          </a:p>
          <a:p>
            <a:r>
              <a:rPr lang="en-IN" dirty="0" smtClean="0">
                <a:solidFill>
                  <a:srgbClr val="002060"/>
                </a:solidFill>
              </a:rPr>
              <a:t>Start Server</a:t>
            </a:r>
          </a:p>
          <a:p>
            <a:pPr lvl="1"/>
            <a:r>
              <a:rPr lang="en-IN" dirty="0" smtClean="0">
                <a:solidFill>
                  <a:srgbClr val="002060"/>
                </a:solidFill>
              </a:rPr>
              <a:t> </a:t>
            </a:r>
            <a:r>
              <a:rPr lang="en-IN" dirty="0" err="1"/>
              <a:t>py</a:t>
            </a:r>
            <a:r>
              <a:rPr lang="en-IN" dirty="0"/>
              <a:t> manage.py </a:t>
            </a:r>
            <a:r>
              <a:rPr lang="en-IN" dirty="0" err="1"/>
              <a:t>runserver</a:t>
            </a:r>
            <a:r>
              <a:rPr lang="en-IN" dirty="0"/>
              <a:t> </a:t>
            </a:r>
          </a:p>
          <a:p>
            <a:r>
              <a:rPr lang="en-IN" dirty="0" smtClean="0">
                <a:solidFill>
                  <a:srgbClr val="002060"/>
                </a:solidFill>
              </a:rPr>
              <a:t>Send </a:t>
            </a:r>
            <a:r>
              <a:rPr lang="en-IN" dirty="0">
                <a:solidFill>
                  <a:srgbClr val="002060"/>
                </a:solidFill>
              </a:rPr>
              <a:t>the request</a:t>
            </a:r>
          </a:p>
        </p:txBody>
      </p:sp>
    </p:spTree>
    <p:extLst>
      <p:ext uri="{BB962C8B-B14F-4D97-AF65-F5344CB8AC3E}">
        <p14:creationId xmlns:p14="http://schemas.microsoft.com/office/powerpoint/2010/main" val="4165785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260648"/>
            <a:ext cx="7772400" cy="72008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Tasks	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95536" y="1052736"/>
            <a:ext cx="7772400" cy="4896544"/>
          </a:xfrm>
        </p:spPr>
        <p:txBody>
          <a:bodyPr>
            <a:normAutofit/>
          </a:bodyPr>
          <a:lstStyle/>
          <a:p>
            <a:r>
              <a:rPr lang="en-US" dirty="0" smtClean="0"/>
              <a:t>Create a project to greet the user with different responses</a:t>
            </a:r>
          </a:p>
          <a:p>
            <a:pPr lvl="1"/>
            <a:r>
              <a:rPr lang="en-US" dirty="0" smtClean="0"/>
              <a:t>GM - &gt; good Morning</a:t>
            </a:r>
          </a:p>
          <a:p>
            <a:pPr lvl="1"/>
            <a:r>
              <a:rPr lang="en-US" dirty="0" smtClean="0"/>
              <a:t>GA - &gt; Good Afternoon</a:t>
            </a:r>
          </a:p>
          <a:p>
            <a:pPr lvl="1"/>
            <a:r>
              <a:rPr lang="en-US" dirty="0" smtClean="0"/>
              <a:t>GE - &gt; Good Evening  </a:t>
            </a:r>
          </a:p>
          <a:p>
            <a:endParaRPr lang="en-US" sz="900" dirty="0" smtClean="0"/>
          </a:p>
          <a:p>
            <a:r>
              <a:rPr lang="en-US" dirty="0" smtClean="0"/>
              <a:t>Single </a:t>
            </a:r>
            <a:r>
              <a:rPr lang="en-US" dirty="0"/>
              <a:t>project with multiple </a:t>
            </a:r>
            <a:r>
              <a:rPr lang="en-US" dirty="0" smtClean="0"/>
              <a:t>applications</a:t>
            </a:r>
          </a:p>
          <a:p>
            <a:pPr lvl="1"/>
            <a:r>
              <a:rPr lang="en-US" dirty="0" smtClean="0"/>
              <a:t>Create app  to greet the user</a:t>
            </a:r>
          </a:p>
          <a:p>
            <a:pPr lvl="1"/>
            <a:r>
              <a:rPr lang="en-US" dirty="0" smtClean="0"/>
              <a:t>Create app to return date and time</a:t>
            </a:r>
          </a:p>
          <a:p>
            <a:pPr lvl="2"/>
            <a:r>
              <a:rPr lang="en-IN" dirty="0"/>
              <a:t>import </a:t>
            </a:r>
            <a:r>
              <a:rPr lang="en-IN" dirty="0" err="1" smtClean="0"/>
              <a:t>datetime</a:t>
            </a:r>
            <a:endParaRPr lang="en-IN" dirty="0" smtClean="0"/>
          </a:p>
          <a:p>
            <a:pPr lvl="2"/>
            <a:r>
              <a:rPr lang="en-US" dirty="0"/>
              <a:t>time=</a:t>
            </a:r>
            <a:r>
              <a:rPr lang="en-US" dirty="0" err="1"/>
              <a:t>datetime.datetime.now</a:t>
            </a:r>
            <a:r>
              <a:rPr lang="en-US" dirty="0"/>
              <a:t>() </a:t>
            </a:r>
            <a:r>
              <a:rPr lang="en-US" dirty="0" smtClean="0"/>
              <a:t> </a:t>
            </a:r>
          </a:p>
          <a:p>
            <a:pPr lvl="2"/>
            <a:r>
              <a:rPr lang="en-US" dirty="0" smtClean="0"/>
              <a:t>s=</a:t>
            </a:r>
            <a:r>
              <a:rPr lang="en-US" dirty="0"/>
              <a:t>'</a:t>
            </a:r>
            <a:r>
              <a:rPr lang="en-US" b="1" dirty="0"/>
              <a:t>Hello Current Date and Time is :'+</a:t>
            </a:r>
            <a:r>
              <a:rPr lang="en-US" b="1" dirty="0" err="1"/>
              <a:t>str</a:t>
            </a:r>
            <a:r>
              <a:rPr lang="en-US" b="1" dirty="0"/>
              <a:t>(time)+'</a:t>
            </a:r>
          </a:p>
          <a:p>
            <a:pPr lvl="2"/>
            <a:r>
              <a:rPr lang="en-US" dirty="0" smtClean="0"/>
              <a:t>return </a:t>
            </a:r>
            <a:r>
              <a:rPr lang="en-US" dirty="0" err="1"/>
              <a:t>HttpResponse</a:t>
            </a:r>
            <a:r>
              <a:rPr lang="en-US" dirty="0"/>
              <a:t>(s)</a:t>
            </a:r>
            <a:endParaRPr lang="en-IN" dirty="0"/>
          </a:p>
        </p:txBody>
      </p:sp>
      <p:sp>
        <p:nvSpPr>
          <p:cNvPr id="4" name="Right Brace 3"/>
          <p:cNvSpPr/>
          <p:nvPr/>
        </p:nvSpPr>
        <p:spPr>
          <a:xfrm>
            <a:off x="6444208" y="4077072"/>
            <a:ext cx="504056" cy="144016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/>
          <p:cNvSpPr txBox="1"/>
          <p:nvPr/>
        </p:nvSpPr>
        <p:spPr>
          <a:xfrm>
            <a:off x="7063664" y="4612486"/>
            <a:ext cx="180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views.py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71908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188640"/>
            <a:ext cx="7772400" cy="792088"/>
          </a:xfrm>
        </p:spPr>
        <p:txBody>
          <a:bodyPr/>
          <a:lstStyle/>
          <a:p>
            <a:r>
              <a:rPr lang="en-US" b="1" dirty="0" smtClean="0">
                <a:solidFill>
                  <a:srgbClr val="002060"/>
                </a:solidFill>
              </a:rPr>
              <a:t>Basic Workflow</a:t>
            </a:r>
            <a:r>
              <a:rPr lang="en-US" dirty="0" smtClean="0"/>
              <a:t>	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95536" y="1052736"/>
            <a:ext cx="8568952" cy="5112568"/>
          </a:xfrm>
        </p:spPr>
        <p:txBody>
          <a:bodyPr>
            <a:normAutofit lnSpcReduction="10000"/>
          </a:bodyPr>
          <a:lstStyle/>
          <a:p>
            <a:r>
              <a:rPr lang="en-US" sz="2000" dirty="0" smtClean="0"/>
              <a:t>Create a Project</a:t>
            </a:r>
          </a:p>
          <a:p>
            <a:pPr lvl="1"/>
            <a:r>
              <a:rPr lang="en-US" sz="1800" dirty="0" smtClean="0"/>
              <a:t>Use ‘</a:t>
            </a:r>
            <a:r>
              <a:rPr lang="en-US" sz="1800" dirty="0" err="1" smtClean="0"/>
              <a:t>django</a:t>
            </a:r>
            <a:r>
              <a:rPr lang="en-US" sz="1800" dirty="0" smtClean="0"/>
              <a:t>-admin </a:t>
            </a:r>
            <a:r>
              <a:rPr lang="en-US" sz="1800" dirty="0" err="1" smtClean="0"/>
              <a:t>startproject</a:t>
            </a:r>
            <a:r>
              <a:rPr lang="en-US" sz="1800" dirty="0" smtClean="0"/>
              <a:t> </a:t>
            </a:r>
            <a:r>
              <a:rPr lang="en-US" sz="1800" dirty="0" err="1" smtClean="0"/>
              <a:t>projectname</a:t>
            </a:r>
            <a:r>
              <a:rPr lang="en-US" sz="1800" dirty="0" smtClean="0"/>
              <a:t>’ to set up a new project.</a:t>
            </a:r>
          </a:p>
          <a:p>
            <a:pPr lvl="1"/>
            <a:r>
              <a:rPr lang="en-US" sz="1800" dirty="0" smtClean="0"/>
              <a:t>If above one is not worked use python –m </a:t>
            </a:r>
            <a:r>
              <a:rPr lang="en-US" sz="1800" dirty="0" err="1" smtClean="0"/>
              <a:t>django</a:t>
            </a:r>
            <a:r>
              <a:rPr lang="en-US" sz="1800" dirty="0" smtClean="0"/>
              <a:t> </a:t>
            </a:r>
            <a:r>
              <a:rPr lang="en-US" sz="1800" dirty="0" err="1" smtClean="0"/>
              <a:t>startproject</a:t>
            </a:r>
            <a:r>
              <a:rPr lang="en-US" sz="1800" dirty="0" smtClean="0"/>
              <a:t> </a:t>
            </a:r>
            <a:r>
              <a:rPr lang="en-US" sz="1800" dirty="0" err="1" smtClean="0"/>
              <a:t>projectname</a:t>
            </a:r>
            <a:endParaRPr lang="en-US" sz="1800" dirty="0" smtClean="0"/>
          </a:p>
          <a:p>
            <a:r>
              <a:rPr lang="en-US" sz="2000" dirty="0" smtClean="0"/>
              <a:t>Create an App:</a:t>
            </a:r>
          </a:p>
          <a:p>
            <a:pPr lvl="1"/>
            <a:r>
              <a:rPr lang="en-US" sz="1800" dirty="0" smtClean="0"/>
              <a:t>Use ‘python manage.py </a:t>
            </a:r>
            <a:r>
              <a:rPr lang="en-US" sz="1800" dirty="0" err="1" smtClean="0"/>
              <a:t>startapp</a:t>
            </a:r>
            <a:r>
              <a:rPr lang="en-US" sz="1800" dirty="0" smtClean="0"/>
              <a:t> </a:t>
            </a:r>
            <a:r>
              <a:rPr lang="en-US" sz="1800" dirty="0" err="1" smtClean="0"/>
              <a:t>appname</a:t>
            </a:r>
            <a:r>
              <a:rPr lang="en-US" sz="1800" dirty="0" smtClean="0"/>
              <a:t>’ to add new application(module such as </a:t>
            </a:r>
            <a:r>
              <a:rPr lang="en-US" sz="1800" dirty="0" err="1" smtClean="0"/>
              <a:t>dept</a:t>
            </a:r>
            <a:r>
              <a:rPr lang="en-US" sz="1800" dirty="0" smtClean="0"/>
              <a:t>, sales, purchases) to the project</a:t>
            </a:r>
          </a:p>
          <a:p>
            <a:r>
              <a:rPr lang="en-US" sz="2000" dirty="0" smtClean="0"/>
              <a:t>Define Models:</a:t>
            </a:r>
          </a:p>
          <a:p>
            <a:pPr lvl="1"/>
            <a:r>
              <a:rPr lang="en-US" sz="1800" dirty="0" smtClean="0"/>
              <a:t>Create models in ‘Models.py’ for database structure. </a:t>
            </a:r>
          </a:p>
          <a:p>
            <a:r>
              <a:rPr lang="en-US" sz="2000" dirty="0" smtClean="0"/>
              <a:t>Create Views</a:t>
            </a:r>
          </a:p>
          <a:p>
            <a:pPr lvl="1"/>
            <a:r>
              <a:rPr lang="en-US" sz="1800" dirty="0" smtClean="0"/>
              <a:t>Define views in ‘views.py’ to handle requests</a:t>
            </a:r>
          </a:p>
          <a:p>
            <a:r>
              <a:rPr lang="en-US" sz="2000" dirty="0" smtClean="0"/>
              <a:t>Configure URLs:</a:t>
            </a:r>
          </a:p>
          <a:p>
            <a:pPr lvl="1"/>
            <a:r>
              <a:rPr lang="en-US" sz="1800" dirty="0" smtClean="0"/>
              <a:t>Map URLs to views in ‘urls.py’ </a:t>
            </a:r>
          </a:p>
          <a:p>
            <a:r>
              <a:rPr lang="en-US" sz="2000" dirty="0" smtClean="0"/>
              <a:t>Create Templates:</a:t>
            </a:r>
          </a:p>
          <a:p>
            <a:pPr lvl="1"/>
            <a:r>
              <a:rPr lang="en-US" sz="1800" dirty="0" smtClean="0"/>
              <a:t>Develop HTML templates for the front-end display</a:t>
            </a:r>
          </a:p>
          <a:p>
            <a:r>
              <a:rPr lang="en-US" sz="2000" dirty="0" smtClean="0"/>
              <a:t>Admin Configuration</a:t>
            </a:r>
          </a:p>
          <a:p>
            <a:pPr lvl="1"/>
            <a:r>
              <a:rPr lang="en-US" sz="1800" dirty="0" smtClean="0"/>
              <a:t>Register Models with the admin interface in ‘admin.py’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749783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260648"/>
            <a:ext cx="77724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solidFill>
                  <a:srgbClr val="002060"/>
                </a:solidFill>
              </a:rPr>
              <a:t>How to Create Project in Django - </a:t>
            </a:r>
            <a:r>
              <a:rPr lang="en-US" dirty="0" err="1" smtClean="0">
                <a:solidFill>
                  <a:srgbClr val="002060"/>
                </a:solidFill>
              </a:rPr>
              <a:t>PyCharm</a:t>
            </a:r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23528" y="1556792"/>
            <a:ext cx="7772400" cy="4572000"/>
          </a:xfrm>
        </p:spPr>
        <p:txBody>
          <a:bodyPr/>
          <a:lstStyle/>
          <a:p>
            <a:r>
              <a:rPr lang="en-US" dirty="0" smtClean="0"/>
              <a:t>Using ATOM, </a:t>
            </a:r>
            <a:r>
              <a:rPr lang="en-US" dirty="0" err="1" smtClean="0"/>
              <a:t>PyCharm</a:t>
            </a:r>
            <a:r>
              <a:rPr lang="en-US" dirty="0" smtClean="0"/>
              <a:t>, VSC, and manually …</a:t>
            </a:r>
          </a:p>
          <a:p>
            <a:r>
              <a:rPr lang="en-US" dirty="0" smtClean="0"/>
              <a:t>Using </a:t>
            </a:r>
            <a:r>
              <a:rPr lang="en-US" dirty="0" err="1" smtClean="0"/>
              <a:t>PyCharm</a:t>
            </a:r>
            <a:r>
              <a:rPr lang="en-US" dirty="0" smtClean="0"/>
              <a:t> – </a:t>
            </a:r>
            <a:r>
              <a:rPr lang="en-US" dirty="0" err="1" smtClean="0"/>
              <a:t>Bydefault</a:t>
            </a:r>
            <a:r>
              <a:rPr lang="en-US" dirty="0" smtClean="0"/>
              <a:t> Virtual environment will be added . </a:t>
            </a:r>
          </a:p>
          <a:p>
            <a:pPr lvl="1"/>
            <a:r>
              <a:rPr lang="en-US" dirty="0" smtClean="0"/>
              <a:t>Download  and Install </a:t>
            </a:r>
            <a:r>
              <a:rPr lang="en-US" dirty="0" err="1" smtClean="0"/>
              <a:t>PyCharm</a:t>
            </a:r>
            <a:endParaRPr lang="en-US" dirty="0" smtClean="0"/>
          </a:p>
          <a:p>
            <a:pPr lvl="1"/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2780928"/>
            <a:ext cx="4392488" cy="3555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1294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0" y="3432"/>
            <a:ext cx="4063344" cy="333061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9792" y="3334042"/>
            <a:ext cx="5978278" cy="3367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6335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95536" y="476672"/>
            <a:ext cx="8064896" cy="1656184"/>
          </a:xfrm>
        </p:spPr>
        <p:txBody>
          <a:bodyPr>
            <a:normAutofit/>
          </a:bodyPr>
          <a:lstStyle/>
          <a:p>
            <a:r>
              <a:rPr lang="en-US" dirty="0" smtClean="0"/>
              <a:t>Next Install – Django</a:t>
            </a:r>
          </a:p>
          <a:p>
            <a:r>
              <a:rPr lang="en-US" dirty="0" smtClean="0"/>
              <a:t>Go to terminal and type</a:t>
            </a:r>
          </a:p>
          <a:p>
            <a:pPr lvl="1"/>
            <a:r>
              <a:rPr lang="en-US" dirty="0" smtClean="0"/>
              <a:t>pip install </a:t>
            </a:r>
            <a:r>
              <a:rPr lang="en-US" dirty="0" err="1" smtClean="0"/>
              <a:t>django</a:t>
            </a:r>
            <a:endParaRPr lang="en-US" dirty="0" smtClean="0"/>
          </a:p>
          <a:p>
            <a:pPr marL="320040" lvl="1" indent="0">
              <a:buNone/>
            </a:pP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08" y="2996952"/>
            <a:ext cx="6758940" cy="241554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08" y="1916832"/>
            <a:ext cx="4671060" cy="807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8663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23528" y="188640"/>
            <a:ext cx="7772400" cy="4572000"/>
          </a:xfrm>
        </p:spPr>
        <p:txBody>
          <a:bodyPr/>
          <a:lstStyle/>
          <a:p>
            <a:r>
              <a:rPr lang="en-US" dirty="0" smtClean="0"/>
              <a:t>Next Create a Project</a:t>
            </a:r>
          </a:p>
          <a:p>
            <a:pPr lvl="1"/>
            <a:r>
              <a:rPr lang="en-US" dirty="0" smtClean="0"/>
              <a:t>Type at terminal </a:t>
            </a:r>
          </a:p>
          <a:p>
            <a:pPr lvl="2"/>
            <a:r>
              <a:rPr lang="en-US" dirty="0" err="1" smtClean="0"/>
              <a:t>django</a:t>
            </a:r>
            <a:r>
              <a:rPr lang="en-US" dirty="0" smtClean="0"/>
              <a:t>-admin </a:t>
            </a:r>
            <a:r>
              <a:rPr lang="en-US" dirty="0" err="1" smtClean="0"/>
              <a:t>startproject</a:t>
            </a:r>
            <a:r>
              <a:rPr lang="en-US" dirty="0" smtClean="0"/>
              <a:t> </a:t>
            </a:r>
            <a:r>
              <a:rPr lang="en-US" dirty="0" err="1" smtClean="0"/>
              <a:t>project_name</a:t>
            </a:r>
            <a:endParaRPr lang="en-US" dirty="0" smtClean="0"/>
          </a:p>
          <a:p>
            <a:pPr lvl="1"/>
            <a:r>
              <a:rPr lang="en-US" dirty="0"/>
              <a:t>Ex: </a:t>
            </a:r>
            <a:r>
              <a:rPr lang="en-US" dirty="0" err="1"/>
              <a:t>django</a:t>
            </a:r>
            <a:r>
              <a:rPr lang="en-US" dirty="0"/>
              <a:t>-admin </a:t>
            </a:r>
            <a:r>
              <a:rPr lang="en-US" dirty="0" err="1"/>
              <a:t>startproject</a:t>
            </a:r>
            <a:r>
              <a:rPr lang="en-US" dirty="0"/>
              <a:t> ecommerce</a:t>
            </a:r>
          </a:p>
          <a:p>
            <a:pPr marL="320040" lvl="1" indent="0">
              <a:buNone/>
            </a:pP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728" y="1844824"/>
            <a:ext cx="3970020" cy="4160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8663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51520" y="188640"/>
            <a:ext cx="8496944" cy="6552728"/>
          </a:xfrm>
        </p:spPr>
        <p:txBody>
          <a:bodyPr/>
          <a:lstStyle/>
          <a:p>
            <a:r>
              <a:rPr lang="en-US" dirty="0" smtClean="0"/>
              <a:t>To run the project</a:t>
            </a:r>
          </a:p>
          <a:p>
            <a:pPr lvl="1"/>
            <a:r>
              <a:rPr lang="en-US" dirty="0" smtClean="0"/>
              <a:t>Go to ecommerce</a:t>
            </a:r>
          </a:p>
          <a:p>
            <a:pPr lvl="2"/>
            <a:r>
              <a:rPr lang="en-US" dirty="0" smtClean="0"/>
              <a:t>Type cd ecommerce at terminal </a:t>
            </a:r>
          </a:p>
          <a:p>
            <a:pPr lvl="2"/>
            <a:r>
              <a:rPr lang="en-US" dirty="0" smtClean="0"/>
              <a:t>&gt;cd ecommerce</a:t>
            </a:r>
          </a:p>
          <a:p>
            <a:pPr lvl="2"/>
            <a:r>
              <a:rPr lang="en-US" dirty="0"/>
              <a:t>Then type  </a:t>
            </a:r>
            <a:r>
              <a:rPr lang="en-US" b="1" dirty="0"/>
              <a:t>python manage.py </a:t>
            </a:r>
            <a:r>
              <a:rPr lang="en-US" b="1" dirty="0" err="1"/>
              <a:t>runserver</a:t>
            </a:r>
            <a:endParaRPr lang="en-US" b="1" dirty="0"/>
          </a:p>
          <a:p>
            <a:pPr lvl="2"/>
            <a:endParaRPr lang="en-US" dirty="0" smtClean="0"/>
          </a:p>
          <a:p>
            <a:pPr lvl="2"/>
            <a:endParaRPr lang="en-US" dirty="0"/>
          </a:p>
          <a:p>
            <a:pPr lvl="2"/>
            <a:endParaRPr lang="en-US" dirty="0" smtClean="0"/>
          </a:p>
          <a:p>
            <a:pPr lvl="2"/>
            <a:endParaRPr lang="en-US" dirty="0"/>
          </a:p>
          <a:p>
            <a:pPr lvl="2"/>
            <a:endParaRPr lang="en-US" dirty="0" smtClean="0"/>
          </a:p>
          <a:p>
            <a:pPr lvl="2"/>
            <a:endParaRPr lang="en-US" dirty="0"/>
          </a:p>
          <a:p>
            <a:pPr lvl="2"/>
            <a:endParaRPr lang="en-US" dirty="0" smtClean="0"/>
          </a:p>
          <a:p>
            <a:pPr lvl="2"/>
            <a:endParaRPr lang="en-US" dirty="0"/>
          </a:p>
          <a:p>
            <a:pPr lvl="2"/>
            <a:endParaRPr lang="en-US" dirty="0" smtClean="0"/>
          </a:p>
          <a:p>
            <a:pPr lvl="2"/>
            <a:r>
              <a:rPr lang="en-US" dirty="0" smtClean="0"/>
              <a:t>If you want to change the port number</a:t>
            </a:r>
          </a:p>
          <a:p>
            <a:pPr lvl="3"/>
            <a:r>
              <a:rPr lang="en-US" dirty="0" smtClean="0"/>
              <a:t>Type </a:t>
            </a:r>
            <a:r>
              <a:rPr lang="en-US" b="1" dirty="0"/>
              <a:t>python manage.py </a:t>
            </a:r>
            <a:r>
              <a:rPr lang="en-US" b="1" dirty="0" err="1" smtClean="0"/>
              <a:t>runserver</a:t>
            </a:r>
            <a:r>
              <a:rPr lang="en-US" b="1" dirty="0" smtClean="0"/>
              <a:t> </a:t>
            </a:r>
            <a:r>
              <a:rPr lang="en-US" b="1" dirty="0" err="1" smtClean="0"/>
              <a:t>newportnumber</a:t>
            </a:r>
            <a:r>
              <a:rPr lang="en-US" b="1" dirty="0" smtClean="0"/>
              <a:t> </a:t>
            </a:r>
            <a:r>
              <a:rPr lang="en-US" dirty="0" smtClean="0"/>
              <a:t>at terminal</a:t>
            </a:r>
            <a:endParaRPr lang="en-US" dirty="0"/>
          </a:p>
          <a:p>
            <a:pPr lvl="2"/>
            <a:endParaRPr lang="en-IN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2326659"/>
            <a:ext cx="4730808" cy="26367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4128" y="2636912"/>
            <a:ext cx="3072341" cy="17281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74298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260648"/>
            <a:ext cx="7772400" cy="64807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Using Command prompt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95536" y="1052736"/>
            <a:ext cx="7772400" cy="5328592"/>
          </a:xfrm>
        </p:spPr>
        <p:txBody>
          <a:bodyPr/>
          <a:lstStyle/>
          <a:p>
            <a:r>
              <a:rPr lang="en-US" dirty="0" smtClean="0"/>
              <a:t>Create a directory in some location</a:t>
            </a:r>
          </a:p>
          <a:p>
            <a:pPr lvl="2"/>
            <a:r>
              <a:rPr lang="en-IN" dirty="0"/>
              <a:t>F:\DJANGO&gt;md </a:t>
            </a:r>
            <a:r>
              <a:rPr lang="en-IN" dirty="0" err="1" smtClean="0"/>
              <a:t>Django_CMD</a:t>
            </a:r>
            <a:endParaRPr lang="en-IN" dirty="0" smtClean="0"/>
          </a:p>
          <a:p>
            <a:r>
              <a:rPr lang="en-US" dirty="0" smtClean="0"/>
              <a:t>Install virtual environment </a:t>
            </a:r>
          </a:p>
          <a:p>
            <a:pPr lvl="2"/>
            <a:r>
              <a:rPr lang="en-IN" dirty="0"/>
              <a:t>F:\DJANGO&gt;pip install </a:t>
            </a:r>
            <a:r>
              <a:rPr lang="en-IN" dirty="0" err="1" smtClean="0"/>
              <a:t>virtualenv</a:t>
            </a:r>
            <a:endParaRPr lang="en-IN" dirty="0" smtClean="0"/>
          </a:p>
          <a:p>
            <a:r>
              <a:rPr lang="en-IN" dirty="0" smtClean="0"/>
              <a:t>Then type </a:t>
            </a:r>
            <a:r>
              <a:rPr lang="en-IN" dirty="0" err="1" smtClean="0"/>
              <a:t>virtualenv</a:t>
            </a:r>
            <a:r>
              <a:rPr lang="en-IN" dirty="0" smtClean="0"/>
              <a:t> .    </a:t>
            </a:r>
          </a:p>
          <a:p>
            <a:pPr lvl="1"/>
            <a:r>
              <a:rPr lang="en-US" dirty="0" smtClean="0"/>
              <a:t>It creates root directory and some files</a:t>
            </a:r>
          </a:p>
          <a:p>
            <a:pPr lvl="1"/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7824" y="3717032"/>
            <a:ext cx="4157915" cy="1446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2928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260648"/>
            <a:ext cx="7772400" cy="850106"/>
          </a:xfrm>
        </p:spPr>
        <p:txBody>
          <a:bodyPr/>
          <a:lstStyle/>
          <a:p>
            <a:r>
              <a:rPr lang="en-US" dirty="0"/>
              <a:t>Using Command prompt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67544" y="1052736"/>
            <a:ext cx="7772400" cy="4572000"/>
          </a:xfrm>
        </p:spPr>
        <p:txBody>
          <a:bodyPr/>
          <a:lstStyle/>
          <a:p>
            <a:r>
              <a:rPr lang="en-US" dirty="0" err="1" smtClean="0"/>
              <a:t>Goto</a:t>
            </a:r>
            <a:r>
              <a:rPr lang="en-US" dirty="0" smtClean="0"/>
              <a:t> scripts</a:t>
            </a:r>
            <a:endParaRPr lang="en-US" dirty="0"/>
          </a:p>
          <a:p>
            <a:pPr lvl="2"/>
            <a:r>
              <a:rPr lang="en-IN" dirty="0"/>
              <a:t>F:\</a:t>
            </a:r>
            <a:r>
              <a:rPr lang="en-IN" dirty="0" smtClean="0"/>
              <a:t>DJANGO&gt;cd scripts</a:t>
            </a:r>
            <a:endParaRPr lang="en-IN" dirty="0"/>
          </a:p>
          <a:p>
            <a:r>
              <a:rPr lang="en-US" dirty="0" smtClean="0"/>
              <a:t>Type </a:t>
            </a:r>
            <a:r>
              <a:rPr lang="en-US" b="1" dirty="0" smtClean="0"/>
              <a:t>activate</a:t>
            </a:r>
            <a:r>
              <a:rPr lang="en-IN" dirty="0" smtClean="0"/>
              <a:t> to make ready virtual environment</a:t>
            </a:r>
            <a:endParaRPr lang="en-IN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pPr lvl="1"/>
            <a:r>
              <a:rPr lang="en-US" dirty="0" smtClean="0"/>
              <a:t>If we observer (DJANGO) will appear before </a:t>
            </a:r>
            <a:r>
              <a:rPr lang="en-US" dirty="0" err="1" smtClean="0"/>
              <a:t>cmd</a:t>
            </a:r>
            <a:r>
              <a:rPr lang="en-US" dirty="0" smtClean="0"/>
              <a:t> – now it is ready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640" y="2564904"/>
            <a:ext cx="4549140" cy="1912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2676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260648"/>
            <a:ext cx="7772400" cy="648072"/>
          </a:xfrm>
        </p:spPr>
        <p:txBody>
          <a:bodyPr>
            <a:normAutofit fontScale="90000"/>
          </a:bodyPr>
          <a:lstStyle/>
          <a:p>
            <a:r>
              <a:rPr lang="en-US" dirty="0"/>
              <a:t>Using Command prompt</a:t>
            </a:r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95536" y="836712"/>
            <a:ext cx="8496944" cy="5544616"/>
          </a:xfrm>
        </p:spPr>
        <p:txBody>
          <a:bodyPr/>
          <a:lstStyle/>
          <a:p>
            <a:r>
              <a:rPr lang="en-US" dirty="0" smtClean="0"/>
              <a:t>No type cd ..</a:t>
            </a:r>
          </a:p>
          <a:p>
            <a:r>
              <a:rPr lang="en-US" dirty="0" smtClean="0"/>
              <a:t>Then type pip install </a:t>
            </a:r>
            <a:r>
              <a:rPr lang="en-US" dirty="0" err="1" smtClean="0"/>
              <a:t>django</a:t>
            </a:r>
            <a:endParaRPr lang="en-US" dirty="0" smtClean="0"/>
          </a:p>
          <a:p>
            <a:pPr lvl="2"/>
            <a:r>
              <a:rPr lang="en-IN" dirty="0"/>
              <a:t>(DJANGO) F:\DJANGO\Scripts&gt;cd ..</a:t>
            </a:r>
          </a:p>
          <a:p>
            <a:pPr lvl="2"/>
            <a:r>
              <a:rPr lang="en-IN" dirty="0" smtClean="0"/>
              <a:t>(</a:t>
            </a:r>
            <a:r>
              <a:rPr lang="en-IN" dirty="0"/>
              <a:t>DJANGO) F:\DJANGO&gt;pip install </a:t>
            </a:r>
            <a:r>
              <a:rPr lang="en-IN" dirty="0" err="1" smtClean="0"/>
              <a:t>django</a:t>
            </a:r>
            <a:endParaRPr lang="en-IN" dirty="0" smtClean="0"/>
          </a:p>
          <a:p>
            <a:r>
              <a:rPr lang="en-US" dirty="0" smtClean="0"/>
              <a:t>Now, Django is installed in that environment </a:t>
            </a:r>
          </a:p>
          <a:p>
            <a:r>
              <a:rPr lang="en-US" dirty="0" smtClean="0"/>
              <a:t>Now, create project</a:t>
            </a:r>
          </a:p>
          <a:p>
            <a:pPr lvl="1"/>
            <a:r>
              <a:rPr lang="en-US" dirty="0" err="1"/>
              <a:t>django</a:t>
            </a:r>
            <a:r>
              <a:rPr lang="en-US" dirty="0"/>
              <a:t>-admin </a:t>
            </a:r>
            <a:r>
              <a:rPr lang="en-US" dirty="0" err="1"/>
              <a:t>startproject</a:t>
            </a:r>
            <a:r>
              <a:rPr lang="en-US" dirty="0"/>
              <a:t> </a:t>
            </a:r>
            <a:r>
              <a:rPr lang="en-US" dirty="0" err="1"/>
              <a:t>project_name</a:t>
            </a:r>
            <a:endParaRPr lang="en-US" dirty="0"/>
          </a:p>
          <a:p>
            <a:pPr marL="320040" lvl="1" indent="0">
              <a:buNone/>
            </a:pPr>
            <a:r>
              <a:rPr lang="en-US" dirty="0" smtClean="0"/>
              <a:t>  Ex: 	</a:t>
            </a:r>
            <a:r>
              <a:rPr lang="en-US" dirty="0" err="1"/>
              <a:t>django</a:t>
            </a:r>
            <a:r>
              <a:rPr lang="en-US" dirty="0"/>
              <a:t>-admin </a:t>
            </a:r>
            <a:r>
              <a:rPr lang="en-US" dirty="0" err="1"/>
              <a:t>startproject</a:t>
            </a:r>
            <a:r>
              <a:rPr lang="en-US" dirty="0"/>
              <a:t> </a:t>
            </a:r>
            <a:r>
              <a:rPr lang="en-US" dirty="0" smtClean="0"/>
              <a:t>application</a:t>
            </a:r>
          </a:p>
          <a:p>
            <a:pPr lvl="1"/>
            <a:r>
              <a:rPr lang="en-US" dirty="0" smtClean="0"/>
              <a:t>To run the project</a:t>
            </a:r>
          </a:p>
          <a:p>
            <a:pPr lvl="2"/>
            <a:r>
              <a:rPr lang="en-US" dirty="0" smtClean="0"/>
              <a:t>Go to newly created project and run the server</a:t>
            </a:r>
          </a:p>
          <a:p>
            <a:pPr lvl="2"/>
            <a:endParaRPr lang="en-US" dirty="0" smtClean="0"/>
          </a:p>
          <a:p>
            <a:pPr lvl="2"/>
            <a:endParaRPr lang="en-US" dirty="0"/>
          </a:p>
          <a:p>
            <a:pPr marL="320040" lvl="1" indent="0">
              <a:buNone/>
            </a:pPr>
            <a:endParaRPr lang="en-US" dirty="0" smtClean="0"/>
          </a:p>
          <a:p>
            <a:pPr lvl="1"/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640" y="5172022"/>
            <a:ext cx="7127776" cy="1405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8663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260648"/>
            <a:ext cx="7772400" cy="720080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solidFill>
                  <a:srgbClr val="002060"/>
                </a:solidFill>
              </a:rPr>
              <a:t>Using VS Code</a:t>
            </a:r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23528" y="1052736"/>
            <a:ext cx="7772400" cy="4572000"/>
          </a:xfrm>
        </p:spPr>
        <p:txBody>
          <a:bodyPr/>
          <a:lstStyle/>
          <a:p>
            <a:r>
              <a:rPr lang="en-US" dirty="0" smtClean="0"/>
              <a:t>Open VSC</a:t>
            </a:r>
          </a:p>
          <a:p>
            <a:r>
              <a:rPr lang="en-US" dirty="0" smtClean="0"/>
              <a:t>Short cut instead of creating folder</a:t>
            </a:r>
          </a:p>
          <a:p>
            <a:pPr lvl="1"/>
            <a:r>
              <a:rPr lang="en-US" dirty="0" err="1" smtClean="0"/>
              <a:t>Goto</a:t>
            </a:r>
            <a:r>
              <a:rPr lang="en-US" dirty="0" smtClean="0"/>
              <a:t> the folder (Ex</a:t>
            </a:r>
            <a:r>
              <a:rPr lang="en-US" dirty="0"/>
              <a:t>: F:\DJANGO\DJANGO_USINGVSC) </a:t>
            </a:r>
            <a:r>
              <a:rPr lang="en-US" dirty="0" smtClean="0"/>
              <a:t>type </a:t>
            </a:r>
            <a:r>
              <a:rPr lang="en-US" dirty="0" err="1" smtClean="0"/>
              <a:t>cmd</a:t>
            </a:r>
            <a:r>
              <a:rPr lang="en-US" dirty="0" smtClean="0"/>
              <a:t> at </a:t>
            </a:r>
            <a:r>
              <a:rPr lang="en-US" dirty="0" err="1" smtClean="0"/>
              <a:t>addressbar</a:t>
            </a:r>
            <a:endParaRPr lang="en-US" dirty="0" smtClean="0"/>
          </a:p>
          <a:p>
            <a:pPr lvl="2"/>
            <a:r>
              <a:rPr lang="en-US" dirty="0" smtClean="0"/>
              <a:t>Then type </a:t>
            </a:r>
            <a:r>
              <a:rPr lang="en-US" b="1" dirty="0" smtClean="0"/>
              <a:t>code   .  </a:t>
            </a:r>
            <a:r>
              <a:rPr lang="en-US" dirty="0" smtClean="0"/>
              <a:t> at command prompt</a:t>
            </a:r>
          </a:p>
          <a:p>
            <a:pPr lvl="1"/>
            <a:r>
              <a:rPr lang="en-US" dirty="0" smtClean="0"/>
              <a:t>Then go to terminal of  VSC</a:t>
            </a:r>
          </a:p>
          <a:p>
            <a:pPr lvl="2"/>
            <a:r>
              <a:rPr lang="en-US" dirty="0"/>
              <a:t>Type python -m </a:t>
            </a:r>
            <a:r>
              <a:rPr lang="en-US" dirty="0" err="1"/>
              <a:t>venv</a:t>
            </a:r>
            <a:r>
              <a:rPr lang="en-US" dirty="0"/>
              <a:t> </a:t>
            </a:r>
            <a:r>
              <a:rPr lang="en-US" dirty="0" smtClean="0"/>
              <a:t>.</a:t>
            </a:r>
          </a:p>
          <a:p>
            <a:pPr lvl="2"/>
            <a:r>
              <a:rPr lang="en-US" dirty="0" smtClean="0"/>
              <a:t>Now go to scripts (cd scripts)</a:t>
            </a:r>
          </a:p>
          <a:p>
            <a:pPr lvl="2"/>
            <a:r>
              <a:rPr lang="en-US" dirty="0" smtClean="0"/>
              <a:t>Then add the activate the environment </a:t>
            </a:r>
          </a:p>
        </p:txBody>
      </p:sp>
    </p:spTree>
    <p:extLst>
      <p:ext uri="{BB962C8B-B14F-4D97-AF65-F5344CB8AC3E}">
        <p14:creationId xmlns:p14="http://schemas.microsoft.com/office/powerpoint/2010/main" val="3988663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260648"/>
            <a:ext cx="7772400" cy="792088"/>
          </a:xfrm>
        </p:spPr>
        <p:txBody>
          <a:bodyPr/>
          <a:lstStyle/>
          <a:p>
            <a:r>
              <a:rPr lang="en-IN" dirty="0">
                <a:solidFill>
                  <a:srgbClr val="002060"/>
                </a:solidFill>
              </a:rPr>
              <a:t>Django Templates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95536" y="1196752"/>
            <a:ext cx="8568952" cy="5256584"/>
          </a:xfrm>
        </p:spPr>
        <p:txBody>
          <a:bodyPr>
            <a:normAutofit lnSpcReduction="10000"/>
          </a:bodyPr>
          <a:lstStyle/>
          <a:p>
            <a:r>
              <a:rPr lang="en-US" dirty="0"/>
              <a:t> It is not recommended to write html code inside python script (views.py file) because: </a:t>
            </a:r>
            <a:endParaRPr lang="en-US" dirty="0" smtClean="0"/>
          </a:p>
          <a:p>
            <a:pPr marL="320040" lvl="1" indent="0">
              <a:buNone/>
            </a:pPr>
            <a:r>
              <a:rPr lang="en-US" dirty="0" smtClean="0"/>
              <a:t>1</a:t>
            </a:r>
            <a:r>
              <a:rPr lang="en-US" dirty="0"/>
              <a:t>) It reduces readability because Python code mixed with html code </a:t>
            </a:r>
            <a:endParaRPr lang="en-US" dirty="0" smtClean="0"/>
          </a:p>
          <a:p>
            <a:pPr marL="320040" lvl="1" indent="0">
              <a:buNone/>
            </a:pPr>
            <a:r>
              <a:rPr lang="en-US" dirty="0" smtClean="0"/>
              <a:t>2</a:t>
            </a:r>
            <a:r>
              <a:rPr lang="en-US" dirty="0"/>
              <a:t>) No </a:t>
            </a:r>
            <a:r>
              <a:rPr lang="en-US" dirty="0" smtClean="0"/>
              <a:t>separation </a:t>
            </a:r>
            <a:r>
              <a:rPr lang="en-US" dirty="0"/>
              <a:t>of roles. Python developer has to concentrate on both python code and HTML Code. </a:t>
            </a:r>
            <a:endParaRPr lang="en-US" dirty="0" smtClean="0"/>
          </a:p>
          <a:p>
            <a:pPr marL="320040" lvl="1" indent="0">
              <a:buNone/>
            </a:pPr>
            <a:r>
              <a:rPr lang="en-US" dirty="0" smtClean="0"/>
              <a:t>3</a:t>
            </a:r>
            <a:r>
              <a:rPr lang="en-US" dirty="0"/>
              <a:t>) It does not promote reusability of code </a:t>
            </a:r>
            <a:endParaRPr lang="en-US" dirty="0" smtClean="0"/>
          </a:p>
          <a:p>
            <a:r>
              <a:rPr lang="en-US" dirty="0" smtClean="0"/>
              <a:t>We </a:t>
            </a:r>
            <a:r>
              <a:rPr lang="en-US" dirty="0"/>
              <a:t>can overcome these problems by </a:t>
            </a:r>
            <a:r>
              <a:rPr lang="en-US" dirty="0" smtClean="0"/>
              <a:t>separating </a:t>
            </a:r>
            <a:r>
              <a:rPr lang="en-US" dirty="0"/>
              <a:t>html code into a </a:t>
            </a:r>
            <a:r>
              <a:rPr lang="en-US" dirty="0" smtClean="0"/>
              <a:t>separate </a:t>
            </a:r>
            <a:r>
              <a:rPr lang="en-US" dirty="0"/>
              <a:t>html file</a:t>
            </a:r>
            <a:r>
              <a:rPr lang="en-US" dirty="0" smtClean="0"/>
              <a:t>.</a:t>
            </a:r>
          </a:p>
          <a:p>
            <a:r>
              <a:rPr lang="en-US" dirty="0" smtClean="0"/>
              <a:t>This </a:t>
            </a:r>
            <a:r>
              <a:rPr lang="en-US" dirty="0"/>
              <a:t>html file is nothing but template. From the Python file (views.py file) we can use these templates based on our requirement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C00000"/>
                </a:solidFill>
              </a:rPr>
              <a:t>We </a:t>
            </a:r>
            <a:r>
              <a:rPr lang="en-US" dirty="0">
                <a:solidFill>
                  <a:srgbClr val="C00000"/>
                </a:solidFill>
              </a:rPr>
              <a:t>have to write templates at </a:t>
            </a:r>
            <a:r>
              <a:rPr lang="en-US" dirty="0">
                <a:solidFill>
                  <a:srgbClr val="002060"/>
                </a:solidFill>
              </a:rPr>
              <a:t>project level </a:t>
            </a:r>
            <a:r>
              <a:rPr lang="en-US" dirty="0">
                <a:solidFill>
                  <a:srgbClr val="C00000"/>
                </a:solidFill>
              </a:rPr>
              <a:t>only once and we can use these in multiple applications</a:t>
            </a:r>
            <a:endParaRPr lang="en-IN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88620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260648"/>
            <a:ext cx="7772400" cy="648072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solidFill>
                  <a:srgbClr val="002060"/>
                </a:solidFill>
              </a:rPr>
              <a:t>Steps to be followed: </a:t>
            </a:r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95536" y="980728"/>
            <a:ext cx="8424936" cy="5544616"/>
          </a:xfrm>
        </p:spPr>
        <p:txBody>
          <a:bodyPr/>
          <a:lstStyle/>
          <a:p>
            <a:r>
              <a:rPr lang="en-US" dirty="0"/>
              <a:t> Creation of </a:t>
            </a:r>
            <a:r>
              <a:rPr lang="en-US" dirty="0" smtClean="0"/>
              <a:t>Project</a:t>
            </a:r>
          </a:p>
          <a:p>
            <a:pPr lvl="2"/>
            <a:r>
              <a:rPr lang="en-US" sz="2400" dirty="0" err="1"/>
              <a:t>django</a:t>
            </a:r>
            <a:r>
              <a:rPr lang="en-US" sz="2400" dirty="0"/>
              <a:t>-admin </a:t>
            </a:r>
            <a:r>
              <a:rPr lang="en-US" sz="2400" dirty="0" err="1"/>
              <a:t>startproject</a:t>
            </a:r>
            <a:r>
              <a:rPr lang="en-US" sz="2400" dirty="0"/>
              <a:t> </a:t>
            </a:r>
            <a:r>
              <a:rPr lang="en-US" sz="2400" dirty="0" err="1"/>
              <a:t>templateProject</a:t>
            </a:r>
            <a:r>
              <a:rPr lang="en-US" sz="2400" dirty="0"/>
              <a:t>  or</a:t>
            </a:r>
          </a:p>
          <a:p>
            <a:pPr lvl="2"/>
            <a:r>
              <a:rPr lang="en-US" sz="2400" dirty="0"/>
              <a:t>Python –m </a:t>
            </a:r>
            <a:r>
              <a:rPr lang="en-US" sz="2400" dirty="0" err="1"/>
              <a:t>django</a:t>
            </a:r>
            <a:r>
              <a:rPr lang="en-US" sz="2400" dirty="0"/>
              <a:t> </a:t>
            </a:r>
            <a:r>
              <a:rPr lang="en-US" sz="2400" dirty="0" err="1"/>
              <a:t>startproject</a:t>
            </a:r>
            <a:r>
              <a:rPr lang="en-US" sz="2400" dirty="0"/>
              <a:t> </a:t>
            </a:r>
            <a:r>
              <a:rPr lang="en-US" sz="2400" dirty="0" err="1"/>
              <a:t>name_of_the_project</a:t>
            </a:r>
            <a:endParaRPr lang="en-US" sz="2400" dirty="0"/>
          </a:p>
          <a:p>
            <a:r>
              <a:rPr lang="en-US" dirty="0"/>
              <a:t>Creation of Application </a:t>
            </a:r>
            <a:endParaRPr lang="en-US" sz="2400" dirty="0"/>
          </a:p>
          <a:p>
            <a:pPr lvl="2"/>
            <a:r>
              <a:rPr lang="en-US" sz="2400" dirty="0" err="1"/>
              <a:t>py</a:t>
            </a:r>
            <a:r>
              <a:rPr lang="en-US" sz="2400" dirty="0"/>
              <a:t> manage.py </a:t>
            </a:r>
            <a:r>
              <a:rPr lang="en-US" sz="2400" dirty="0" err="1"/>
              <a:t>startapp</a:t>
            </a:r>
            <a:r>
              <a:rPr lang="en-US" sz="2400" dirty="0"/>
              <a:t> </a:t>
            </a:r>
            <a:r>
              <a:rPr lang="en-US" sz="2400" dirty="0" err="1" smtClean="0"/>
              <a:t>BasicTemplate</a:t>
            </a:r>
            <a:r>
              <a:rPr lang="en-US" sz="2400" dirty="0" smtClean="0"/>
              <a:t>  </a:t>
            </a:r>
            <a:endParaRPr lang="en-US" sz="2600" dirty="0"/>
          </a:p>
          <a:p>
            <a:r>
              <a:rPr lang="en-US" dirty="0"/>
              <a:t>Add this application to the project in settings.py </a:t>
            </a:r>
            <a:r>
              <a:rPr lang="en-US" dirty="0" err="1"/>
              <a:t>file,so</a:t>
            </a:r>
            <a:r>
              <a:rPr lang="en-US" dirty="0"/>
              <a:t> that Django aware of application </a:t>
            </a:r>
            <a:endParaRPr lang="en-US" dirty="0" smtClean="0"/>
          </a:p>
          <a:p>
            <a:r>
              <a:rPr lang="en-US" dirty="0"/>
              <a:t>Create a 'templates' folder inside main project folder. In that templates folder create a </a:t>
            </a:r>
            <a:r>
              <a:rPr lang="en-US" dirty="0" err="1"/>
              <a:t>seperate</a:t>
            </a:r>
            <a:r>
              <a:rPr lang="en-US" dirty="0"/>
              <a:t> folder named with </a:t>
            </a:r>
            <a:r>
              <a:rPr lang="en-US" b="1" dirty="0" err="1"/>
              <a:t>BasicTemplateA</a:t>
            </a:r>
            <a:r>
              <a:rPr lang="en-US" b="1" dirty="0" err="1" smtClean="0"/>
              <a:t>pp</a:t>
            </a:r>
            <a:r>
              <a:rPr lang="en-US" dirty="0" smtClean="0"/>
              <a:t> </a:t>
            </a:r>
            <a:r>
              <a:rPr lang="en-US" dirty="0"/>
              <a:t>to hold that particular application specific templates.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14429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260648"/>
            <a:ext cx="7772400" cy="648072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solidFill>
                  <a:srgbClr val="002060"/>
                </a:solidFill>
              </a:rPr>
              <a:t>Steps to be followed: </a:t>
            </a:r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95536" y="980728"/>
            <a:ext cx="8424936" cy="5544616"/>
          </a:xfrm>
        </p:spPr>
        <p:txBody>
          <a:bodyPr>
            <a:normAutofit/>
          </a:bodyPr>
          <a:lstStyle/>
          <a:p>
            <a:r>
              <a:rPr lang="en-US" dirty="0"/>
              <a:t>  Add templates folder to settings.py file so that Django can aware of our templates. </a:t>
            </a:r>
            <a:endParaRPr lang="en-US" dirty="0" smtClean="0"/>
          </a:p>
          <a:p>
            <a:pPr marL="0" indent="0">
              <a:buNone/>
            </a:pPr>
            <a:r>
              <a:rPr lang="en-IN" sz="2000" dirty="0" smtClean="0"/>
              <a:t>TEMPLATES </a:t>
            </a:r>
            <a:r>
              <a:rPr lang="en-IN" sz="2000" dirty="0"/>
              <a:t>= [ { ..., 'DIRS': </a:t>
            </a:r>
            <a:r>
              <a:rPr lang="en-IN" sz="2000" dirty="0" smtClean="0"/>
              <a:t>				[</a:t>
            </a:r>
            <a:r>
              <a:rPr lang="en-IN" sz="2000" dirty="0"/>
              <a:t>'F:\</a:t>
            </a:r>
            <a:r>
              <a:rPr lang="en-IN" sz="2000" dirty="0" smtClean="0"/>
              <a:t>DJANGOWS_YS\</a:t>
            </a:r>
            <a:r>
              <a:rPr lang="en-IN" sz="2000" dirty="0" err="1" smtClean="0"/>
              <a:t>WorkingWithTemplates</a:t>
            </a:r>
            <a:r>
              <a:rPr lang="en-IN" sz="2000" dirty="0" smtClean="0"/>
              <a:t>\\templates'],</a:t>
            </a:r>
            <a:endParaRPr lang="en-IN" sz="2000" dirty="0"/>
          </a:p>
          <a:p>
            <a:pPr marL="0" indent="0">
              <a:buNone/>
            </a:pPr>
            <a:r>
              <a:rPr lang="en-IN" sz="2000" dirty="0" smtClean="0"/>
              <a:t>	},]</a:t>
            </a:r>
          </a:p>
          <a:p>
            <a:r>
              <a:rPr lang="en-US" dirty="0"/>
              <a:t>Create html file inside </a:t>
            </a:r>
            <a:r>
              <a:rPr lang="en-US" dirty="0" smtClean="0"/>
              <a:t>templates/</a:t>
            </a:r>
            <a:r>
              <a:rPr lang="en-US" dirty="0" err="1" smtClean="0"/>
              <a:t>BasicTemplateApp</a:t>
            </a:r>
            <a:r>
              <a:rPr lang="en-US" dirty="0" smtClean="0"/>
              <a:t> </a:t>
            </a:r>
            <a:r>
              <a:rPr lang="en-US" dirty="0"/>
              <a:t>folder. This html file is nothing </a:t>
            </a:r>
            <a:r>
              <a:rPr lang="en-US" dirty="0" smtClean="0"/>
              <a:t>but </a:t>
            </a:r>
            <a:r>
              <a:rPr lang="en-US" dirty="0"/>
              <a:t>template</a:t>
            </a:r>
            <a:r>
              <a:rPr lang="en-US" dirty="0" smtClean="0"/>
              <a:t>.</a:t>
            </a:r>
          </a:p>
          <a:p>
            <a:r>
              <a:rPr lang="en-US" dirty="0"/>
              <a:t>Define Function based view inside views.py file </a:t>
            </a:r>
            <a:endParaRPr lang="en-US" dirty="0" smtClean="0"/>
          </a:p>
          <a:p>
            <a:pPr marL="320040" lvl="1" indent="0">
              <a:buNone/>
            </a:pPr>
            <a:r>
              <a:rPr lang="en-US" b="1" dirty="0"/>
              <a:t>from </a:t>
            </a:r>
            <a:r>
              <a:rPr lang="en-US" b="1" dirty="0" err="1"/>
              <a:t>django.shortcuts</a:t>
            </a:r>
            <a:r>
              <a:rPr lang="en-US" b="1" dirty="0"/>
              <a:t> import render </a:t>
            </a:r>
            <a:endParaRPr lang="en-US" b="1" dirty="0" smtClean="0"/>
          </a:p>
          <a:p>
            <a:pPr marL="320040" lvl="1" indent="0">
              <a:buNone/>
            </a:pPr>
            <a:r>
              <a:rPr lang="en-US" b="1" dirty="0" err="1" smtClean="0"/>
              <a:t>def</a:t>
            </a:r>
            <a:r>
              <a:rPr lang="en-US" b="1" dirty="0" smtClean="0"/>
              <a:t> </a:t>
            </a:r>
            <a:r>
              <a:rPr lang="en-US" b="1" dirty="0"/>
              <a:t>wish(request): </a:t>
            </a:r>
            <a:endParaRPr lang="en-US" b="1" dirty="0" smtClean="0"/>
          </a:p>
          <a:p>
            <a:pPr marL="320040" lvl="1" indent="0">
              <a:buNone/>
            </a:pPr>
            <a:r>
              <a:rPr lang="en-US" b="1" dirty="0"/>
              <a:t>	</a:t>
            </a:r>
            <a:r>
              <a:rPr lang="en-IN" b="1" dirty="0"/>
              <a:t>render(request, '</a:t>
            </a:r>
            <a:r>
              <a:rPr lang="en-IN" b="1" dirty="0" err="1"/>
              <a:t>BasicTemplateApp</a:t>
            </a:r>
            <a:r>
              <a:rPr lang="en-IN" b="1" dirty="0"/>
              <a:t>/TimeTable.html')</a:t>
            </a:r>
          </a:p>
          <a:p>
            <a:r>
              <a:rPr lang="en-IN" dirty="0" smtClean="0"/>
              <a:t>Define </a:t>
            </a:r>
            <a:r>
              <a:rPr lang="en-IN" dirty="0"/>
              <a:t>URL Pattern </a:t>
            </a:r>
            <a:r>
              <a:rPr lang="en-IN" dirty="0" smtClean="0"/>
              <a:t>in urls.py</a:t>
            </a:r>
          </a:p>
          <a:p>
            <a:r>
              <a:rPr lang="en-US" dirty="0"/>
              <a:t>Run Server and send Request.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61732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260648"/>
            <a:ext cx="7772400" cy="648072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solidFill>
                  <a:srgbClr val="002060"/>
                </a:solidFill>
              </a:rPr>
              <a:t>Template Tag</a:t>
            </a:r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95536" y="980728"/>
            <a:ext cx="8424936" cy="5544616"/>
          </a:xfrm>
        </p:spPr>
        <p:txBody>
          <a:bodyPr>
            <a:normAutofit lnSpcReduction="10000"/>
          </a:bodyPr>
          <a:lstStyle/>
          <a:p>
            <a:r>
              <a:rPr lang="en-US" dirty="0"/>
              <a:t>   From Python views.py we can inject dynamic content to the template file by using template tags. </a:t>
            </a:r>
            <a:endParaRPr lang="en-US" dirty="0" smtClean="0"/>
          </a:p>
          <a:p>
            <a:r>
              <a:rPr lang="en-US" dirty="0"/>
              <a:t>Template Tags also known as Template Variables. </a:t>
            </a:r>
            <a:endParaRPr lang="en-US" dirty="0" smtClean="0"/>
          </a:p>
          <a:p>
            <a:r>
              <a:rPr lang="en-US" dirty="0"/>
              <a:t>In Django templates, </a:t>
            </a:r>
            <a:r>
              <a:rPr lang="en-US" dirty="0" smtClean="0"/>
              <a:t>we </a:t>
            </a:r>
            <a:r>
              <a:rPr lang="en-US" dirty="0"/>
              <a:t>can render variables by putting them inside {{ }} brackets</a:t>
            </a:r>
            <a:r>
              <a:rPr lang="en-US" dirty="0" smtClean="0"/>
              <a:t>:  {{</a:t>
            </a:r>
            <a:r>
              <a:rPr lang="en-US" dirty="0" err="1" smtClean="0"/>
              <a:t>var_name</a:t>
            </a:r>
            <a:r>
              <a:rPr lang="en-US" dirty="0" smtClean="0"/>
              <a:t> </a:t>
            </a:r>
            <a:r>
              <a:rPr lang="en-US" dirty="0"/>
              <a:t>}}</a:t>
            </a:r>
            <a:endParaRPr lang="en-US" dirty="0" smtClean="0"/>
          </a:p>
          <a:p>
            <a:r>
              <a:rPr lang="en-US" dirty="0"/>
              <a:t>In Django templates, </a:t>
            </a:r>
            <a:r>
              <a:rPr lang="en-US" dirty="0" smtClean="0"/>
              <a:t>we </a:t>
            </a:r>
            <a:r>
              <a:rPr lang="en-US" dirty="0"/>
              <a:t>can perform programming logic like executing if statements and for loops.</a:t>
            </a:r>
          </a:p>
          <a:p>
            <a:r>
              <a:rPr lang="en-US" dirty="0"/>
              <a:t>These keywords, if and for, are called "template tags" in Django.</a:t>
            </a:r>
          </a:p>
          <a:p>
            <a:r>
              <a:rPr lang="en-US" dirty="0"/>
              <a:t>To execute template tags, we surround them in {% %} brackets</a:t>
            </a:r>
            <a:r>
              <a:rPr lang="en-US" dirty="0" smtClean="0"/>
              <a:t>.</a:t>
            </a:r>
          </a:p>
          <a:p>
            <a:pPr marL="1143000" lvl="4" indent="0">
              <a:buNone/>
            </a:pPr>
            <a:r>
              <a:rPr lang="en-US" dirty="0"/>
              <a:t>{% if greeting == 1 %} </a:t>
            </a:r>
            <a:endParaRPr lang="en-US" dirty="0" smtClean="0"/>
          </a:p>
          <a:p>
            <a:pPr marL="1143000" lvl="4" indent="0">
              <a:buNone/>
            </a:pPr>
            <a:r>
              <a:rPr lang="en-US" dirty="0" smtClean="0"/>
              <a:t>&lt;</a:t>
            </a:r>
            <a:r>
              <a:rPr lang="en-US" dirty="0"/>
              <a:t>h1&gt;Hello&lt;/h1&gt; </a:t>
            </a:r>
            <a:endParaRPr lang="en-US" dirty="0" smtClean="0"/>
          </a:p>
          <a:p>
            <a:pPr marL="1143000" lvl="4" indent="0">
              <a:buNone/>
            </a:pPr>
            <a:r>
              <a:rPr lang="en-US" dirty="0" smtClean="0"/>
              <a:t>{% </a:t>
            </a:r>
            <a:r>
              <a:rPr lang="en-US" dirty="0"/>
              <a:t>else %} </a:t>
            </a:r>
            <a:endParaRPr lang="en-US" dirty="0" smtClean="0"/>
          </a:p>
          <a:p>
            <a:pPr marL="1143000" lvl="4" indent="0">
              <a:buNone/>
            </a:pPr>
            <a:r>
              <a:rPr lang="en-US" dirty="0" smtClean="0"/>
              <a:t>&lt;</a:t>
            </a:r>
            <a:r>
              <a:rPr lang="en-US" dirty="0"/>
              <a:t>h1&gt;Bye&lt;/h1&gt; </a:t>
            </a:r>
            <a:endParaRPr lang="en-US" dirty="0" smtClean="0"/>
          </a:p>
          <a:p>
            <a:pPr marL="1143000" lvl="4" indent="0">
              <a:buNone/>
            </a:pPr>
            <a:r>
              <a:rPr lang="en-US" dirty="0" smtClean="0"/>
              <a:t>{% </a:t>
            </a:r>
            <a:r>
              <a:rPr lang="en-US" dirty="0" err="1"/>
              <a:t>endif</a:t>
            </a:r>
            <a:r>
              <a:rPr lang="en-US" dirty="0"/>
              <a:t> %}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80702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95536" y="548680"/>
            <a:ext cx="6912768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 smtClean="0"/>
              <a:t>ORM </a:t>
            </a:r>
            <a:r>
              <a:rPr lang="en-IN" b="1" dirty="0"/>
              <a:t>(Object Relational Mapping</a:t>
            </a:r>
            <a:r>
              <a:rPr lang="en-IN" b="1" dirty="0" smtClean="0"/>
              <a:t>)  – Creation of </a:t>
            </a:r>
            <a:r>
              <a:rPr lang="en-IN" b="1" dirty="0" err="1" smtClean="0"/>
              <a:t>Emplyee</a:t>
            </a:r>
            <a:r>
              <a:rPr lang="en-IN" b="1" dirty="0" smtClean="0"/>
              <a:t>  Model (Table). </a:t>
            </a:r>
          </a:p>
          <a:p>
            <a:r>
              <a:rPr lang="en-US" dirty="0" smtClean="0"/>
              <a:t>	It </a:t>
            </a:r>
            <a:r>
              <a:rPr lang="en-US" dirty="0"/>
              <a:t>allows you to use </a:t>
            </a:r>
            <a:r>
              <a:rPr lang="en-US" b="1" dirty="0"/>
              <a:t>Python code instead of SQL queries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	Django automatically converts ORM code into SQL.</a:t>
            </a:r>
            <a:endParaRPr lang="en-IN" dirty="0"/>
          </a:p>
          <a:p>
            <a:endParaRPr lang="en-IN" dirty="0"/>
          </a:p>
          <a:p>
            <a:r>
              <a:rPr lang="en-IN" dirty="0" smtClean="0"/>
              <a:t> </a:t>
            </a:r>
            <a:endParaRPr lang="en-IN" dirty="0"/>
          </a:p>
        </p:txBody>
      </p:sp>
      <p:sp>
        <p:nvSpPr>
          <p:cNvPr id="3" name="Rectangle 2"/>
          <p:cNvSpPr/>
          <p:nvPr/>
        </p:nvSpPr>
        <p:spPr>
          <a:xfrm>
            <a:off x="1403648" y="1916832"/>
            <a:ext cx="7272808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dirty="0"/>
              <a:t>from </a:t>
            </a:r>
            <a:r>
              <a:rPr lang="en-IN" sz="2000" dirty="0" err="1"/>
              <a:t>django.db</a:t>
            </a:r>
            <a:r>
              <a:rPr lang="en-IN" sz="2000" dirty="0"/>
              <a:t> import models</a:t>
            </a:r>
          </a:p>
          <a:p>
            <a:endParaRPr lang="en-IN" sz="2000" dirty="0"/>
          </a:p>
          <a:p>
            <a:r>
              <a:rPr lang="en-IN" sz="2000" dirty="0"/>
              <a:t>class </a:t>
            </a:r>
            <a:r>
              <a:rPr lang="en-IN" sz="2000" dirty="0" err="1"/>
              <a:t>Emp</a:t>
            </a:r>
            <a:r>
              <a:rPr lang="en-IN" sz="2000" dirty="0"/>
              <a:t>(</a:t>
            </a:r>
            <a:r>
              <a:rPr lang="en-IN" sz="2000" dirty="0" err="1"/>
              <a:t>models.Model</a:t>
            </a:r>
            <a:r>
              <a:rPr lang="en-IN" sz="2000" dirty="0"/>
              <a:t>):</a:t>
            </a:r>
          </a:p>
          <a:p>
            <a:r>
              <a:rPr lang="en-IN" sz="2000" dirty="0"/>
              <a:t>    name = </a:t>
            </a:r>
            <a:r>
              <a:rPr lang="en-IN" sz="2000" dirty="0" err="1"/>
              <a:t>models.CharField</a:t>
            </a:r>
            <a:r>
              <a:rPr lang="en-IN" sz="2000" dirty="0"/>
              <a:t>(</a:t>
            </a:r>
            <a:r>
              <a:rPr lang="en-IN" sz="2000" dirty="0" err="1"/>
              <a:t>max_length</a:t>
            </a:r>
            <a:r>
              <a:rPr lang="en-IN" sz="2000" dirty="0"/>
              <a:t>=100)</a:t>
            </a:r>
          </a:p>
          <a:p>
            <a:r>
              <a:rPr lang="en-IN" sz="2000" dirty="0"/>
              <a:t>    salary = </a:t>
            </a:r>
            <a:r>
              <a:rPr lang="en-IN" sz="2000" dirty="0" err="1"/>
              <a:t>models.FloatField</a:t>
            </a:r>
            <a:r>
              <a:rPr lang="en-IN" sz="2000" dirty="0"/>
              <a:t>()</a:t>
            </a:r>
          </a:p>
          <a:p>
            <a:r>
              <a:rPr lang="en-IN" sz="2000" dirty="0"/>
              <a:t>    department = </a:t>
            </a:r>
            <a:r>
              <a:rPr lang="en-IN" sz="2000" dirty="0" err="1"/>
              <a:t>models.CharField</a:t>
            </a:r>
            <a:r>
              <a:rPr lang="en-IN" sz="2000" dirty="0"/>
              <a:t>(</a:t>
            </a:r>
            <a:r>
              <a:rPr lang="en-IN" sz="2000" dirty="0" err="1"/>
              <a:t>max_length</a:t>
            </a:r>
            <a:r>
              <a:rPr lang="en-IN" sz="2000" dirty="0"/>
              <a:t>=50)</a:t>
            </a:r>
          </a:p>
          <a:p>
            <a:endParaRPr lang="en-IN" sz="2000" dirty="0"/>
          </a:p>
          <a:p>
            <a:r>
              <a:rPr lang="en-IN" sz="2000" dirty="0"/>
              <a:t>    </a:t>
            </a:r>
            <a:r>
              <a:rPr lang="en-IN" sz="2000" dirty="0" err="1"/>
              <a:t>def</a:t>
            </a:r>
            <a:r>
              <a:rPr lang="en-IN" sz="2000" dirty="0"/>
              <a:t> __</a:t>
            </a:r>
            <a:r>
              <a:rPr lang="en-IN" sz="2000" dirty="0" err="1"/>
              <a:t>str</a:t>
            </a:r>
            <a:r>
              <a:rPr lang="en-IN" sz="2000" dirty="0"/>
              <a:t>__(self):</a:t>
            </a:r>
          </a:p>
          <a:p>
            <a:r>
              <a:rPr lang="en-IN" sz="2000" dirty="0"/>
              <a:t>        return self.name</a:t>
            </a:r>
          </a:p>
        </p:txBody>
      </p:sp>
    </p:spTree>
    <p:extLst>
      <p:ext uri="{BB962C8B-B14F-4D97-AF65-F5344CB8AC3E}">
        <p14:creationId xmlns:p14="http://schemas.microsoft.com/office/powerpoint/2010/main" val="8676353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3528" y="332656"/>
            <a:ext cx="555754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/>
              <a:t>ORM </a:t>
            </a:r>
            <a:r>
              <a:rPr lang="en-IN" b="1" dirty="0" smtClean="0"/>
              <a:t>(Object </a:t>
            </a:r>
            <a:r>
              <a:rPr lang="en-IN" b="1" dirty="0"/>
              <a:t>Relational </a:t>
            </a:r>
            <a:r>
              <a:rPr lang="en-IN" b="1" dirty="0" smtClean="0"/>
              <a:t>Mapping) Operations </a:t>
            </a:r>
            <a:r>
              <a:rPr lang="en-IN" b="1" dirty="0"/>
              <a:t>(CRUD</a:t>
            </a:r>
            <a:r>
              <a:rPr lang="en-IN" dirty="0" smtClean="0"/>
              <a:t>)</a:t>
            </a:r>
          </a:p>
          <a:p>
            <a:r>
              <a:rPr lang="en-US" dirty="0" smtClean="0"/>
              <a:t>	</a:t>
            </a:r>
            <a:endParaRPr lang="en-IN" dirty="0"/>
          </a:p>
        </p:txBody>
      </p:sp>
      <p:sp>
        <p:nvSpPr>
          <p:cNvPr id="3" name="Rectangle 2"/>
          <p:cNvSpPr/>
          <p:nvPr/>
        </p:nvSpPr>
        <p:spPr>
          <a:xfrm>
            <a:off x="521550" y="936271"/>
            <a:ext cx="842493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Insert</a:t>
            </a:r>
          </a:p>
          <a:p>
            <a:r>
              <a:rPr lang="en-US" dirty="0" smtClean="0"/>
              <a:t>	</a:t>
            </a:r>
            <a:r>
              <a:rPr lang="en-US" dirty="0" err="1" smtClean="0"/>
              <a:t>Emp.objects.create</a:t>
            </a:r>
            <a:r>
              <a:rPr lang="en-US" dirty="0" smtClean="0"/>
              <a:t>(name=“Suresh", </a:t>
            </a:r>
            <a:r>
              <a:rPr lang="en-US" dirty="0"/>
              <a:t>salary=50000, department="IT</a:t>
            </a:r>
            <a:r>
              <a:rPr lang="en-US" dirty="0" smtClean="0"/>
              <a:t>")</a:t>
            </a:r>
          </a:p>
          <a:p>
            <a:r>
              <a:rPr lang="en-US" dirty="0" smtClean="0"/>
              <a:t>	SQL </a:t>
            </a:r>
            <a:r>
              <a:rPr lang="en-US" dirty="0"/>
              <a:t>- INSERT INTO </a:t>
            </a:r>
            <a:r>
              <a:rPr lang="en-US" dirty="0" err="1"/>
              <a:t>emp</a:t>
            </a:r>
            <a:r>
              <a:rPr lang="en-US" dirty="0"/>
              <a:t> (name, salary, department) VALUES </a:t>
            </a:r>
            <a:r>
              <a:rPr lang="en-US" dirty="0" smtClean="0"/>
              <a:t>(‘Suresh', 5000</a:t>
            </a:r>
            <a:r>
              <a:rPr lang="en-US" dirty="0"/>
              <a:t>, 'IT');</a:t>
            </a: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521550" y="1988840"/>
            <a:ext cx="8244916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 smtClean="0"/>
              <a:t>Read</a:t>
            </a:r>
          </a:p>
          <a:p>
            <a:r>
              <a:rPr lang="en-IN" dirty="0"/>
              <a:t>	</a:t>
            </a:r>
            <a:r>
              <a:rPr lang="en-IN" dirty="0" smtClean="0"/>
              <a:t>employees </a:t>
            </a:r>
            <a:r>
              <a:rPr lang="en-IN" dirty="0"/>
              <a:t>= </a:t>
            </a:r>
            <a:r>
              <a:rPr lang="en-IN" dirty="0" err="1"/>
              <a:t>Emp.objects.all</a:t>
            </a:r>
            <a:r>
              <a:rPr lang="en-IN" dirty="0" smtClean="0"/>
              <a:t>()</a:t>
            </a:r>
          </a:p>
          <a:p>
            <a:r>
              <a:rPr lang="en-US" dirty="0"/>
              <a:t>	</a:t>
            </a:r>
            <a:r>
              <a:rPr lang="en-IN" dirty="0" err="1"/>
              <a:t>it_employees</a:t>
            </a:r>
            <a:r>
              <a:rPr lang="en-IN" dirty="0"/>
              <a:t> = </a:t>
            </a:r>
            <a:r>
              <a:rPr lang="en-IN" dirty="0" err="1"/>
              <a:t>Emp.objects.filter</a:t>
            </a:r>
            <a:r>
              <a:rPr lang="en-IN" dirty="0"/>
              <a:t>(department="IT</a:t>
            </a:r>
            <a:r>
              <a:rPr lang="en-IN" dirty="0" smtClean="0"/>
              <a:t>")</a:t>
            </a:r>
          </a:p>
          <a:p>
            <a:r>
              <a:rPr lang="en-US" dirty="0"/>
              <a:t>	SQL - SELECT * FROM </a:t>
            </a:r>
            <a:r>
              <a:rPr lang="en-US" dirty="0" err="1"/>
              <a:t>emp</a:t>
            </a:r>
            <a:r>
              <a:rPr lang="en-US" dirty="0"/>
              <a:t> WHERE department='IT</a:t>
            </a:r>
            <a:r>
              <a:rPr lang="en-US" dirty="0" smtClean="0"/>
              <a:t>';</a:t>
            </a:r>
          </a:p>
          <a:p>
            <a:r>
              <a:rPr lang="en-IN" b="1" dirty="0" smtClean="0"/>
              <a:t>Update</a:t>
            </a:r>
          </a:p>
          <a:p>
            <a:r>
              <a:rPr lang="en-US" dirty="0"/>
              <a:t>	</a:t>
            </a:r>
            <a:r>
              <a:rPr lang="en-US" dirty="0" err="1"/>
              <a:t>emp</a:t>
            </a:r>
            <a:r>
              <a:rPr lang="en-US" dirty="0"/>
              <a:t> = </a:t>
            </a:r>
            <a:r>
              <a:rPr lang="en-US" dirty="0" err="1"/>
              <a:t>Emp.objects.get</a:t>
            </a:r>
            <a:r>
              <a:rPr lang="en-US" dirty="0"/>
              <a:t>(id=1)</a:t>
            </a:r>
            <a:br>
              <a:rPr lang="en-US" dirty="0"/>
            </a:br>
            <a:r>
              <a:rPr lang="en-US" dirty="0" smtClean="0"/>
              <a:t>	</a:t>
            </a:r>
            <a:r>
              <a:rPr lang="en-US" dirty="0" err="1" smtClean="0"/>
              <a:t>emp.salary</a:t>
            </a:r>
            <a:r>
              <a:rPr lang="en-US" dirty="0" smtClean="0"/>
              <a:t> </a:t>
            </a:r>
            <a:r>
              <a:rPr lang="en-US" dirty="0"/>
              <a:t>= 60000</a:t>
            </a:r>
            <a:br>
              <a:rPr lang="en-US" dirty="0"/>
            </a:br>
            <a:r>
              <a:rPr lang="en-US" dirty="0" smtClean="0"/>
              <a:t>	</a:t>
            </a:r>
            <a:r>
              <a:rPr lang="en-US" dirty="0" err="1" smtClean="0"/>
              <a:t>emp.save</a:t>
            </a:r>
            <a:r>
              <a:rPr lang="en-US" dirty="0" smtClean="0"/>
              <a:t>()</a:t>
            </a:r>
          </a:p>
          <a:p>
            <a:r>
              <a:rPr lang="en-US" dirty="0"/>
              <a:t>	</a:t>
            </a:r>
            <a:endParaRPr lang="en-US" dirty="0" smtClean="0"/>
          </a:p>
          <a:p>
            <a:r>
              <a:rPr lang="en-US" dirty="0" smtClean="0"/>
              <a:t>	SQL </a:t>
            </a:r>
            <a:r>
              <a:rPr lang="en-US" dirty="0"/>
              <a:t>- UPDATE </a:t>
            </a:r>
            <a:r>
              <a:rPr lang="en-US" dirty="0" err="1"/>
              <a:t>emp</a:t>
            </a:r>
            <a:r>
              <a:rPr lang="en-US" dirty="0"/>
              <a:t> SET salary=60000 WHERE id=1</a:t>
            </a:r>
            <a:r>
              <a:rPr lang="en-US" dirty="0" smtClean="0"/>
              <a:t>;</a:t>
            </a:r>
          </a:p>
          <a:p>
            <a:r>
              <a:rPr lang="en-IN" b="1" dirty="0"/>
              <a:t>Delete</a:t>
            </a:r>
          </a:p>
          <a:p>
            <a:pPr lvl="2"/>
            <a:r>
              <a:rPr lang="en-IN" dirty="0" err="1"/>
              <a:t>emp</a:t>
            </a:r>
            <a:r>
              <a:rPr lang="en-IN" dirty="0"/>
              <a:t> = </a:t>
            </a:r>
            <a:r>
              <a:rPr lang="en-IN" dirty="0" err="1"/>
              <a:t>Emp.objects.get</a:t>
            </a:r>
            <a:r>
              <a:rPr lang="en-IN" dirty="0"/>
              <a:t>(id=1)</a:t>
            </a:r>
            <a:br>
              <a:rPr lang="en-IN" dirty="0"/>
            </a:br>
            <a:r>
              <a:rPr lang="en-IN" dirty="0" err="1"/>
              <a:t>emp.delete</a:t>
            </a:r>
            <a:r>
              <a:rPr lang="en-IN" dirty="0" smtClean="0"/>
              <a:t>()</a:t>
            </a:r>
          </a:p>
          <a:p>
            <a:pPr lvl="2"/>
            <a:r>
              <a:rPr lang="en-US" dirty="0"/>
              <a:t>SQL - DELETE FROM </a:t>
            </a:r>
            <a:r>
              <a:rPr lang="en-US" dirty="0" err="1"/>
              <a:t>emp</a:t>
            </a:r>
            <a:r>
              <a:rPr lang="en-US" dirty="0"/>
              <a:t> WHERE id=1;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071783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2529</TotalTime>
  <Words>1650</Words>
  <Application>Microsoft Office PowerPoint</Application>
  <PresentationFormat>On-screen Show (4:3)</PresentationFormat>
  <Paragraphs>338</Paragraphs>
  <Slides>37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38" baseType="lpstr">
      <vt:lpstr>Equity</vt:lpstr>
      <vt:lpstr>DJango</vt:lpstr>
      <vt:lpstr>Python </vt:lpstr>
      <vt:lpstr>Basics </vt:lpstr>
      <vt:lpstr>Web Framework  </vt:lpstr>
      <vt:lpstr>Django? </vt:lpstr>
      <vt:lpstr>Key Features  </vt:lpstr>
      <vt:lpstr>Key Features  </vt:lpstr>
      <vt:lpstr>MVT Architecture</vt:lpstr>
      <vt:lpstr>PowerPoint Presentation</vt:lpstr>
      <vt:lpstr>Core Components</vt:lpstr>
      <vt:lpstr>Create a Virtual environment</vt:lpstr>
      <vt:lpstr>Django Project vs Django Application:</vt:lpstr>
      <vt:lpstr>Creation of Django Project in VSC</vt:lpstr>
      <vt:lpstr>PowerPoint Presentation</vt:lpstr>
      <vt:lpstr>Creation of App in Project</vt:lpstr>
      <vt:lpstr>Activities Required </vt:lpstr>
      <vt:lpstr>PowerPoint Presentation</vt:lpstr>
      <vt:lpstr>PowerPoint Presentation</vt:lpstr>
      <vt:lpstr>PowerPoint Presentation</vt:lpstr>
      <vt:lpstr>Summary of Sequence of Activities related to Django Project:</vt:lpstr>
      <vt:lpstr>Tasks </vt:lpstr>
      <vt:lpstr>Basic Workflow </vt:lpstr>
      <vt:lpstr>How to Create Project in Django - PyCharm</vt:lpstr>
      <vt:lpstr>PowerPoint Presentation</vt:lpstr>
      <vt:lpstr>PowerPoint Presentation</vt:lpstr>
      <vt:lpstr>PowerPoint Presentation</vt:lpstr>
      <vt:lpstr>PowerPoint Presentation</vt:lpstr>
      <vt:lpstr>Using Command prompt</vt:lpstr>
      <vt:lpstr>Using Command prompt</vt:lpstr>
      <vt:lpstr>Using Command prompt</vt:lpstr>
      <vt:lpstr>Using VS Code</vt:lpstr>
      <vt:lpstr>Django Templates</vt:lpstr>
      <vt:lpstr>Steps to be followed: </vt:lpstr>
      <vt:lpstr>Steps to be followed: </vt:lpstr>
      <vt:lpstr>Template Tag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107</cp:revision>
  <dcterms:created xsi:type="dcterms:W3CDTF">2025-03-03T01:37:46Z</dcterms:created>
  <dcterms:modified xsi:type="dcterms:W3CDTF">2026-02-25T07:23:55Z</dcterms:modified>
</cp:coreProperties>
</file>